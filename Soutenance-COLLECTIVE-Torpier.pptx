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09B91"/>
                </a:solidFill>
                <a:latin typeface="Calibri"/>
              </a:rPr>
              <a:t>PROJET EXPERIENTIEL COLLABORATIF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Manager les equipes et la transformation du 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C9D4E0"/>
                </a:solidFill>
                <a:latin typeface="Calibri"/>
              </a:rPr>
              <a:t>Etude preliminaire d'evolution du SI — ebauche de schema directeur</a:t>
            </a:r>
          </a:p>
          <a:p>
            <a:r>
              <a:rPr sz="1800" b="0" i="0">
                <a:solidFill>
                  <a:srgbClr val="C9D4E0"/>
                </a:solidFill>
                <a:latin typeface="Calibri"/>
              </a:rPr>
              <a:t>Groupe DSI · Soutenance 20 min + 15 min d'echange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9AA7B5"/>
                </a:solidFill>
                <a:latin typeface="Calibri"/>
              </a:rPr>
              <a:t>Cas entreprise TORPIER — CESI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Sommaire &amp; organisation du groupe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Objectif : etude preliminaire d'evolution du SI alignee sur la strategie Torpier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1. Analyse de la situation initiale (SWOT, processus, applications, infrastructure)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2. 5 axes d'amelioration + comparaison de 3 referentiels de gouvernance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3. Organisation des equipes, RACI et outils de pilotage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4. Conduite du changement (pitch d'adhesion) + bilan du groupe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Organisation du groupe : repartition des roles sur l'etude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29768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Membre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 sur l'etude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Livrable principal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Membre 1 (pilote)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Coordination + gouvernance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Comparaison referentiels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Membre 2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Cartographie applicative &amp; technique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Tableaux applis / infra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Membre 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Processus metiers &amp; SWOT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Cartographie processus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Membre 4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Organisation &amp; conduite du changement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RACI + pitch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 les flux metiers et ressources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SWOT de l'entreprise Torpier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285232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285232" cy="41148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Savoir-faire bois &amp; eco-conception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CA +30% (2023-25), expansion EU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Applications metiers internes (DSI)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E-commerce PrestaShop + SAV 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285232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285232" cy="41148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FAIBLESSES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Silos applicatifs (echanges CSV)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Exchange en migration, dette technique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Pilotage projets SI 'en construction'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Heterogeneite FR / Finlande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5285232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285232" cy="41148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OPPORTUNITES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Industrie 4.0 / IoT en production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Cloud hybride &amp; M365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Clients prives / promoteurs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Demarche ITIL de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86200"/>
            <a:ext cx="5285232" cy="23774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285232" cy="41148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MENACES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Cyber-risques / RGPD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Dependance fournisseurs bois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Resilience interconnexion sites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222833"/>
                </a:solidFill>
                <a:latin typeface="Calibri"/>
              </a:rPr>
              <a:t>• Barriere linguistique/culture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Processus metiers supportes par le 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389120"/>
                <a:gridCol w="3291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Processus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Taches principales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Acteurs cles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Gestion commerciale &amp; relation client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Ventes, commandes, livraison, reclamations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Commerciaux, SAV, Dynamics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Approvisionnement, fabrication, conception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Poles Arras/Finlande, conception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Financier &amp; administratif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Comptabilite, facturation, paie, RH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Administration, SAGE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Gouvernance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Strategie, KPI, arbitrage, risques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Direction generale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Supports 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Support, maintenance, securite, projets SI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DSI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1">
                <a:solidFill>
                  <a:srgbClr val="555B66"/>
                </a:solidFill>
                <a:latin typeface="Calibri"/>
              </a:rPr>
              <a:t>Representation conseillee : cartographie visuelle (chaine de valeur / BPMN) reliant processus, acteurs et flux d'information.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Strate applicative — applis ↔ fonctions metiers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Editeur / type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Fonctions metiers servies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Microsoft Dynamics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Microsoft / Azure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CRM, commandes, relation client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GesProd (interne)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Torpier / serveur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Approvisionnement, stocks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SAGE Compta / Paie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SAGE / serveur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Comptabilite, facturation, RH/paie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Qualeval (interne)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Torpier / serveur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Qualite production, conformite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PrestaShop (+Stripe)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OVH / web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E-commerce, paiement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Jira Service Mgmt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Atlassian / cloud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Support, tickets, reclamations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Power BI / MS Project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Microsoft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Reporting, pilotage projets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DocuFlow / ArchiCAD-Revit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Torpier / editeurs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GED, conception CAO/BIM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Strate technique — composants ↔ applis supportees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79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294"/>
                <a:gridCol w="3442447"/>
                <a:gridCol w="430305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Composant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Techno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Applications / role supportes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Serveurs applicatifs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Win Server 2019/22, Hyper-V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Applis metiers on-premise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Cluster BDD (2 noeuds)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SQL Server AlwaysOn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Donnees Dynamics, GesProd, Qualeval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Controleurs de domaine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AD DS (siege + replica Arras)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Identites &amp; acces, imprimantes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Serveur de fichiers / sauvegarde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DFS / Veeam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GED, partages, PRA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Serveur RDS / Proxy-securite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Win Server 2019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Acces distants, filtrage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Reseau &amp; interconnexion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Cisco Catalyst/ISR, VLAN 10-60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Segmentation par service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Interconnexion 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VPN IPSec Fortinet, FortiGate 200E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833"/>
                          </a:solidFill>
                          <a:latin typeface="Calibri"/>
                        </a:rPr>
                        <a:t>Nanterre-Arras-Finlande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5 axes d'amelioration du 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pt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2471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66"/>
                <a:gridCol w="2983929"/>
                <a:gridCol w="4820194"/>
                <a:gridCol w="298392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Axe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Applicatif / urbanisation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Casser les silos CSV (API/ESB), urbaniser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Interfaces manuelles supprimees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Reseau / interconnexion &amp; resilience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Fiabiliser/securiser le multi-sites, PRA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Taux de dispo inter-sites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Stockage / donnees &amp; BI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Qualite donnees, sauvegarde/PRA, Power BI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RTO / RPO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Hebergement / cloud hybride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Exchange-&gt;M365, scalabilite e-commerce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Cout/perf, elasticite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Acces utilisateurs / securite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IAM, RGPD, acces distants (RDS, MFA)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Incidents de securite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 i="1">
                <a:solidFill>
                  <a:srgbClr val="009B91"/>
                </a:solidFill>
                <a:latin typeface="Calibri"/>
              </a:rPr>
              <a:t>Liste UNIQUE reprise a l'identique dans la soutenance individuelle (coherence collectif &lt;-&gt; individuel).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1. Modeliser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Comparaison de 3 referentiels de gouvernance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1124711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144"/>
                <a:gridCol w="2550893"/>
                <a:gridCol w="4174188"/>
                <a:gridCol w="255089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Referentiel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Interet pour Torpier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Limite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ITIL (retenu)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Gestion des services / run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Fiabilise support &amp; exploitation multi-sites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Peu de gouvernance/projet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COBIT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Gouvernance SI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Alignement strategie, KPI, RGPD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Lourd pour une PME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Scrum / Agile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Build / projets dev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Dev internes (PrestaShop, GesProd), PMO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22833"/>
                          </a:solidFill>
                          <a:latin typeface="Calibri"/>
                        </a:rPr>
                        <a:t>Ne couvre pas le run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114800"/>
            <a:ext cx="11247120" cy="155448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789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62A4A"/>
                </a:solidFill>
                <a:latin typeface="Calibri"/>
              </a:rPr>
              <a:t>Choix : ITIL pour le RUN + Scrum/Agile pour le BUILD, COBIT en chapeau gouvernance.</a:t>
            </a:r>
          </a:p>
          <a:p>
            <a:pPr>
              <a:spcBef>
                <a:spcPts val="600"/>
              </a:spcBef>
            </a:pPr>
            <a:r>
              <a:rPr sz="1300" b="0" i="1">
                <a:solidFill>
                  <a:srgbClr val="555B66"/>
                </a:solidFill>
                <a:latin typeface="Calibri"/>
              </a:rPr>
              <a:t>→ ITIL est retenu comme fil conducteur ; ce choix est repris tel quel dans la soutenance individuelle.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2. Encadrer les equipes internes et/ou externes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Organisation des equipes 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Organisation hierarchique + transversale pilotee par le DSI (L. Besnier)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Pole RUN / exploitation (ITIL) : A. Duchamp (infra &amp; securite), admins systeme/reseau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Pole BUILD / applicatif : L. Vigne (applicatif), dev full-stack, alternant, freelances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Cellule PMO transversale : T. Valentia (PMP/Scrum Master) — uniformise les pratiques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Style de management adapte (cours CESI : Posture du Manager)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Participatif / collaboratif : equipe experte et autonome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Touches directives sur securite &amp; conformite (coherent avec ITIL)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Organisation type 'orange-&gt;participative' (Mintzberg / Laloux)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2. Encadrer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Matrice RACI &amp; outils de pilotage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RACI 2 + outils 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471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354"/>
                <a:gridCol w="1171574"/>
                <a:gridCol w="1640204"/>
                <a:gridCol w="1640204"/>
                <a:gridCol w="1171574"/>
                <a:gridCol w="164020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Activite / projet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DSI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Run (infra)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Build (appli)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PMO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73152" marR="54864" marT="27432" marB="27432" anchor="ctr">
                    <a:solidFill>
                      <a:srgbClr val="16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Urbanisation / API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Interconnexion &amp; PRA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Mise en place ITIL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Conduite du changement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8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54864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023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55B66"/>
                </a:solidFill>
                <a:latin typeface="Calibri"/>
              </a:rPr>
              <a:t>R=Realise  A=Approuve/responsable  C=Consulte  I=Informe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Outils de SUIVI des projets de transformation : Jira (tickets/Kanban), MS Project, Power BI (KPI)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162A4A"/>
                </a:solidFill>
                <a:latin typeface="Calibri"/>
              </a:rPr>
              <a:t>▸ Outils de PILOTAGE du changement : Teams (communication), enquetes d'adhesion, indicateurs ITIL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3. Conduire le changement induit par les projets de la DSI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Pitch : adopter une conduite du changement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Sans conduite du changement, la transformation echoue : l'adhesion se construit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Methode structurante : ITIL + ADKAR (ou 8 etapes de Kotter)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Leviers : sens (Mission-Vision-Valeurs), implication, reconnaissance, exemplarite du manager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Communication continue, formation, quick wins visibles (ex. fin des exports CSV manuels)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Argument direction : moins d'incidents, plus d'agilite, ROI mesurable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KPI : disponibilite inter-sites, delai de resolution, satisfaction utilisateurs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009B91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Bilan du groupe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0" y="292608"/>
            <a:ext cx="1143000" cy="502920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Points forts du groupe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Complementarite des roles, production iterative du support, ancrage dans le contexte Torpier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Axes d'amelioration du groupe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B66"/>
                </a:solidFill>
                <a:latin typeface="Calibri"/>
              </a:rPr>
              <a:t>•  Approfondir le chiffrage des indicateurs, mieux repartir le temps de parole en soutenance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162A4A"/>
                </a:solidFill>
                <a:latin typeface="Calibri"/>
              </a:rPr>
              <a:t>▸ Prochaine etape : approfondir l'axe 'Optimisation du SI' (soutenance individuelle)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009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009B91"/>
                </a:solidFill>
                <a:latin typeface="Calibr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Questions &amp; echanges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C9D4E0"/>
                </a:solidFill>
                <a:latin typeface="Calibri"/>
              </a:rPr>
              <a:t>Place a la discussion (15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9AA7B5"/>
                </a:solidFill>
                <a:latin typeface="Calibri"/>
              </a:rPr>
              <a:t>Projet collaboratif — cas Torpier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B66"/>
                </a:solidFill>
                <a:latin typeface="Calibri"/>
              </a:rPr>
              <a:t>BLOC4 · Manager les equipes et la transformation du SI · Projet collaboratif (cas Torpier)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