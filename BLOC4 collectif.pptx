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8"/>
  </p:notesMasterIdLst>
  <p:sldIdLst>
    <p:sldId id="294" r:id="rId3"/>
    <p:sldId id="279" r:id="rId4"/>
    <p:sldId id="264" r:id="rId5"/>
    <p:sldId id="295" r:id="rId6"/>
    <p:sldId id="281" r:id="rId7"/>
    <p:sldId id="296" r:id="rId8"/>
    <p:sldId id="283" r:id="rId9"/>
    <p:sldId id="284" r:id="rId10"/>
    <p:sldId id="285" r:id="rId11"/>
    <p:sldId id="286" r:id="rId12"/>
    <p:sldId id="287" r:id="rId13"/>
    <p:sldId id="298" r:id="rId14"/>
    <p:sldId id="297" r:id="rId15"/>
    <p:sldId id="289" r:id="rId16"/>
    <p:sldId id="292" r:id="rId17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Medium" panose="00000600000000000000" pitchFamily="2" charset="0"/>
      <p:regular r:id="rId27"/>
      <p:bold r:id="rId28"/>
      <p:italic r:id="rId29"/>
      <p:boldItalic r:id="rId30"/>
    </p:embeddedFont>
    <p:embeddedFont>
      <p:font typeface="Montserrat SemiBold" panose="00000700000000000000" pitchFamily="2" charset="0"/>
      <p:regular r:id="rId31"/>
      <p:bold r:id="rId32"/>
      <p:italic r:id="rId33"/>
      <p:boldItalic r:id="rId34"/>
    </p:embeddedFont>
    <p:embeddedFont>
      <p:font typeface="Proxima Nova" panose="020B0604020202020204" charset="0"/>
      <p:regular r:id="rId35"/>
      <p:bold r:id="rId36"/>
      <p:italic r:id="rId37"/>
      <p:boldItalic r:id="rId38"/>
    </p:embeddedFont>
    <p:embeddedFont>
      <p:font typeface="Proxima Nova Semibold" panose="020B0604020202020204" charset="0"/>
      <p:regular r:id="rId39"/>
      <p:bold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B81219-01C2-4C35-BEFB-34C79CCE8DD3}">
  <a:tblStyle styleId="{C6B81219-01C2-4C35-BEFB-34C79CCE8D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17" autoAdjust="0"/>
  </p:normalViewPr>
  <p:slideViewPr>
    <p:cSldViewPr snapToGrid="0">
      <p:cViewPr varScale="1">
        <p:scale>
          <a:sx n="177" d="100"/>
          <a:sy n="177" d="100"/>
        </p:scale>
        <p:origin x="46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Slide d'ouverture — présentation de l'équipe et du cadre.</a:t>
            </a:r>
          </a:p>
          <a:p>
            <a:r>
              <a:t>• Se présenter : « Nous sommes l'équipe projet de la DSI du Groupe Torpier, constituée en groupe de travail à la demande du Directeur SI. »</a:t>
            </a:r>
          </a:p>
          <a:p>
            <a:r>
              <a:t>• Rappeler la mission : réaliser une étude préliminaire d'évolution du SI (ébauche de schéma directeur) pour le garder aligné avec la stratégie de l'entreprise.</a:t>
            </a:r>
          </a:p>
          <a:p>
            <a:r>
              <a:t>• Annoncer le plan : 1) analyse de l'existant, 2) gouvernance &amp; organisation des équipes, 3) outils &amp; conduite du changement, 4) organisation du groupe &amp; bilan.</a:t>
            </a:r>
          </a:p>
          <a:p>
            <a:r>
              <a:t>• Durée : 20 min de présentation puis 15 min d'échange. Objectif : convaincre la direction par l'argumentation.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Poser le décor — qui est Torpier et où veut aller la direction.</a:t>
            </a:r>
          </a:p>
          <a:p>
            <a:r>
              <a:t>• Le Groupe = 2 filiales complémentaires sur l'aménagement d'extérieur : TORPIER SAS (bois) et POTIER SARL (mobilier urbain &amp; luminaire en aluminium, leader français). Conception/R&amp;D, production et commercialisation intégrées.</a:t>
            </a:r>
          </a:p>
          <a:p>
            <a:r>
              <a:t>• Implantations : siège à Nanterre, usine d'Arras, usine en Finlande (rachat récent), bureaux commerciaux en Allemagne, Italie et Espagne. → un SI multi-sites et multi-filiales.</a:t>
            </a:r>
          </a:p>
          <a:p>
            <a:r>
              <a:t>• Dynamique : +30 % de CA sur 2023-2025, virage e-commerce, digitalisation et télétravail qui sollicitent fortement le SI.</a:t>
            </a:r>
          </a:p>
          <a:p>
            <a:r>
              <a:t>• Stratégie 2026-2029 (Sophie Crélin, DG) : 4 axes. Insister sur le « pourquoi » : les 3 premiers axes (clients, durable, industrie 4.0) reposent tous sur un SI solide.</a:t>
            </a:r>
          </a:p>
          <a:p>
            <a:r>
              <a:t>• C'est l'axe 4 « Optimisation du SI » qui est notre périmètre : interconnexion des sites, résilience et agilité. → fil rouge de toute la présentation.</a:t>
            </a:r>
          </a:p>
          <a:p>
            <a:r>
              <a:t>• Anticiper Q/R : la croissance par rachats successifs a créé une hétérogénéité applicative entre filiales (silos) — on y revient dans le SWOT et l'analyse du SI.</a:t>
            </a:r>
          </a:p>
          <a:p>
            <a:r>
              <a:t>• Note interne : Pologne (plan SDSI 2019) = même opération d'expansion que la Finlande (réalisée, contexte 2025) ; on retient la Finlande.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5868fc0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a5868fc0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Diagnostic stratégique de l'entreprise (pas encore du SI) — il cadre nos propositions.</a:t>
            </a:r>
          </a:p>
          <a:p>
            <a:r>
              <a:t>• FORCES : complémentarité des 2 filiales (bois + aluminium/luminaire) → offre large ; chaîne de valeur intégrée ; croissance avec e-commerce en place.</a:t>
            </a:r>
          </a:p>
          <a:p>
            <a:r>
              <a:t>• FAIBLESSES : la croissance par rachats a laissé des filiales en silos, un SI hétérogène, trop de processus manuels (Excel/mail, cf. témoignages) et un support IT sans indicateurs.</a:t>
            </a:r>
          </a:p>
          <a:p>
            <a:r>
              <a:t>• OPPORTUNITÉS : nouveaux marchés (privé, promoteurs), durable et personnalisation, industrie 4.0 et expansion européenne.</a:t>
            </a:r>
          </a:p>
          <a:p>
            <a:r>
              <a:t>• MENACES : approvisionnement tendu (vécu 2020-2022), pression réglementaire, risques cyber/continuité non couverts (pas de PRA).</a:t>
            </a:r>
          </a:p>
          <a:p>
            <a:r>
              <a:t>• Transition : plusieurs faiblesses/menaces sont adressables par le SI → on passe à la cartographie de l'existant.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Cartographie macro des processus métiers de Torpier — lecture en 3 familles, tous outillés par le SI.</a:t>
            </a:r>
          </a:p>
          <a:p>
            <a:r>
              <a:t>• PILOTAGE : la Direction Générale (S. Crélin), la DSI et les directions de filiales fixent la stratégie, le schéma directeur SI, le budget et suivent la performance.</a:t>
            </a:r>
          </a:p>
          <a:p>
            <a:r>
              <a:t>• RÉALISATION (cœur de métier) : la chaîne de valeur de l'aménagement extérieur, du commercial à la livraison.</a:t>
            </a:r>
          </a:p>
          <a:p>
            <a:r>
              <a:t>   1. Commercial &amp; relation client : prospection, devis, prise de commande (ADV), vente en ligne et SAV — force de vente, ADV, e-commerce.</a:t>
            </a:r>
          </a:p>
          <a:p>
            <a:r>
              <a:t>   2. Conception &amp; R&amp;D : bureau d'études, conception CAO/BIM, prototypage et nomenclatures.</a:t>
            </a:r>
          </a:p>
          <a:p>
            <a:r>
              <a:t>   3. Production &amp; qualité : planification (GPAO), fabrication sur les usines d'Arras et de Finlande, contrôle qualité.</a:t>
            </a:r>
          </a:p>
          <a:p>
            <a:r>
              <a:t>   4. Logistique &amp; livraison : stocks, achats/approvisionnement, expédition.</a:t>
            </a:r>
          </a:p>
          <a:p>
            <a:r>
              <a:t>• SUPPORT : finance &amp; comptabilité, RH &amp; paie, et la DSI/support IT qui soutiennent l'ensemble.</a:t>
            </a:r>
          </a:p>
          <a:p>
            <a:r>
              <a:t>• Message clé : chaque processus s'appuie sur des applications du SI — c'est ce que détaille le tableau applications ↔ fonctions métiers (slide suivante). Les processus en silos entre filiales justifient l'axe « Uniformiser &amp; urbaniser le SI ».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Tableau de correspondance applications ↔ fonctions métiers, vu par filiale — il matérialise l'hétérogénéité du SI.</a:t>
            </a:r>
          </a:p>
          <a:p>
            <a:r>
              <a:t>• Lecture : chaque ligne = une fonction métier ; les colonnes = les applications utilisées par TORPIER SAS et par POTIER SARL.</a:t>
            </a:r>
          </a:p>
          <a:p>
            <a:r>
              <a:t>• Constat majeur : pour une même fonction, les deux filiales utilisent des outils différents (Dynamics vs Zoho pour le CRM, SAGE vs ISA pour la finance/paie), héritage des rachats successifs → SI en silos, doublons de licences, données non consolidées.</a:t>
            </a:r>
          </a:p>
          <a:p>
            <a:r>
              <a:t>• Seules GesProd (production) et I-MAGE (reporting) sont communes aux deux filiales.</a:t>
            </a:r>
          </a:p>
          <a:p>
            <a:r>
              <a:t>• Côté POTIER, plusieurs fonctions ne sont pas outillées (temps, qualité, BI) ou reposent sur Excel → manque de fiabilité et de pilotage.</a:t>
            </a:r>
          </a:p>
          <a:p>
            <a:r>
              <a:t>• Conclusion / transition : cette cartographie applicative justifie directement l'axe « Uniformiser &amp; urbaniser le SI » et le projet d'ERP unique (lots P7-P8 du SDSI). Elle prépare le tableau infrastructure ↔ applications (slide suivante).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Tableau infrastructure ↔ applications — la couche basse qui héberge tout le SI applicatif.</a:t>
            </a:r>
          </a:p>
          <a:p>
            <a:r>
              <a:t>• Lecture : chaque composant technique (serveur ou élément réseau) et les applications/services qu'il supporte.</a:t>
            </a:r>
          </a:p>
          <a:p>
            <a:r>
              <a:t>• Virtualisation Hyper-V et cluster SQL Server hébergent le cœur applicatif (ERP, CRM, production).</a:t>
            </a:r>
          </a:p>
          <a:p>
            <a:r>
              <a:t>• Active Directory gère l'authentification et les accès de toutes les applications ; le serveur de fichiers porte la bureautique et la GED.</a:t>
            </a:r>
          </a:p>
          <a:p>
            <a:r>
              <a:t>• Réseau : switchs Cisco segmentés en VLAN (LAN, WiFi invité, MPLS, Admin), pare-feu FortiGate + VPN pour l'accès distant et l'e-commerce, liaison MPLS reliant les sites (Nanterre, Arras, Finlande, bureaux UE).</a:t>
            </a:r>
          </a:p>
          <a:p>
            <a:r>
              <a:t>• Fragilités : PRA seulement partiel via Veeam, messagerie non mutualisée (projet P10), socle vieillissant.</a:t>
            </a:r>
          </a:p>
          <a:p>
            <a:r>
              <a:t>• Transition : ces fragilités justifient l'axe « Move to Cloud » (élasticité, résilience, PRA) et l'axe sécurité ; elles nourrissent les 5 axes d'amélioration.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Les 5 axes d'amélioration du SI — ils découlent du diagnostic de l'existant et servent la stratégie 2026-2029.</a:t>
            </a:r>
          </a:p>
          <a:p>
            <a:r>
              <a:t>• Insister sur la cohérence : chaque axe répond à une faiblesse constatée (le « → » de chaque ligne) et porte un indicateur de valeur pour mesurer le bénéfice et faciliter l'adhésion de la direction.</a:t>
            </a:r>
          </a:p>
          <a:p>
            <a:r>
              <a:t>1. Uniformiser et urbaniser le SI : sortir des silos applicatifs hérités des rachats, poser une cartographie et une cible d'urbanisation communes aux filiales.</a:t>
            </a:r>
          </a:p>
          <a:p>
            <a:r>
              <a:t>2. Move to Cloud : remplacer une infra vieillissante par un hébergement cloud élastique et résilient (avec PRA), prérequis de la continuité et de l'industrie 4.0.</a:t>
            </a:r>
          </a:p>
          <a:p>
            <a:r>
              <a:t>3. Référentiel unique de gouvernance : adopter un cadre commun (ITIL) pour piloter de façon homogène projets et services de la DSI.</a:t>
            </a:r>
          </a:p>
          <a:p>
            <a:r>
              <a:t>4. Gestion des services et des incidents : structurer un centre de services (ITSM) avec des engagements de niveau (SLA) là où le support était informel et sans suivi.</a:t>
            </a:r>
          </a:p>
          <a:p>
            <a:r>
              <a:t>5. Sécurité et conformité : maîtriser l'exposition cyber et la conformité RGPD, aujourd'hui non couvertes.</a:t>
            </a:r>
          </a:p>
          <a:p>
            <a:r>
              <a:t>• Garde-fou de cohérence : ce sont exactement les 5 axes repris dans les livrables individuels ; chaque membre en approfondira un seul.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Comparaison argumentée des 3 référentiels — critère le plus pondéré de la grille.</a:t>
            </a:r>
          </a:p>
          <a:p>
            <a:r>
              <a:t>• ITIL : référentiel de gestion des services IT. Pour Torpier, il structure un support aujourd'hui informel (cf. témoignages : incidents par mail/téléphone, priorisation « au plus fort »), instaure des SLA et une CMDB. Limite : peu orienté dév/agilité. → RETENU comme socle.</a:t>
            </a:r>
          </a:p>
          <a:p>
            <a:r>
              <a:t>• COBIT : gouvernance et audit du SI, pilotage par la valeur et les risques, conformité. Très utile pour la direction et le RGPD, mais normatif et lourd. → en appui sur la gouvernance.</a:t>
            </a:r>
          </a:p>
          <a:p>
            <a:r>
              <a:t>• Scrum/Agile : gestion itérative de projets/produits. Parfait pour les projets de dév (CRM, e-commerce, BI) et l'implication des métiers, mais ne couvre pas l'exploitation. → en appui sur les projets.</a:t>
            </a:r>
          </a:p>
          <a:p>
            <a:r>
              <a:t>• Message : on ne choisit pas « un contre les autres » — on combine, avec ITIL comme colonne vertébrale. Cohérent avec le focus individuel ITIL.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Organisation des équipes SI — articuler la hiérarchie et le mode projet.</a:t>
            </a:r>
          </a:p>
          <a:p>
            <a:r>
              <a:t>• Ligne hiérarchique : le DSI (Ludovic Besnier), également RSSI, encadre 4 pôles — chefs de projet (Cerpiat, Salas), développement (Roux, Tamiari), exploitation (Legrand, Ripaud) et support utilisateur (Pilon).</a:t>
            </a:r>
          </a:p>
          <a:p>
            <a:r>
              <a:t>• Mode transversal : la transformation se conduit en mode projet — comités de pilotage, référents métiers des deux filiales, prestataires externes, et le RSSI en sécurité transverse.</a:t>
            </a:r>
          </a:p>
          <a:p>
            <a:r>
              <a:t>• Le « qui-fait-quoi » : l'axe vertical donne l'autorité, l'axe horizontal organise la coopération autour des projets (la RACI qui suit précise les rôles).</a:t>
            </a:r>
          </a:p>
          <a:p>
            <a:r>
              <a:t>• Point d'attention : le cumul DSI/RSSI doit être surveillé (séparation des responsabilités sécurité) ; les ressources internes seront complétées par des prestataires.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Matrice RACI — clarifie qui décide, qui fait, qui est consulté ou informé (critère fortement pondéré).</a:t>
            </a:r>
          </a:p>
          <a:p>
            <a:r>
              <a:t>• Une seule lettre A (Approuve/responsable) par ligne : pas d'ambiguïté de décision.</a:t>
            </a:r>
          </a:p>
          <a:p>
            <a:r>
              <a:t>• La DG approuve la stratégie, le budget et les arbitrages ; la DSI en est le réalisateur puis devient l'« A » sur l'exécution (projets, gouvernance, sécurité, changement).</a:t>
            </a:r>
          </a:p>
          <a:p>
            <a:r>
              <a:t>• Les chefs de projet réalisent le pilotage et le changement ; les équipes IT réalisent la gouvernance ITIL et la sécurité.</a:t>
            </a:r>
          </a:p>
          <a:p>
            <a:r>
              <a:t>• Les métiers des filiales sont consultés (expression de besoin, recette) et les prestataires consultés/contributeurs selon les lots.</a:t>
            </a:r>
          </a:p>
          <a:p>
            <a:r>
              <a:t>• Insister : la RACI prévient les conflits de responsabilité, prérequis d'un pilotage multi-sites efficace.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Outils de suivi des projets — cohérents avec les référentiels et la nature des projets.</a:t>
            </a:r>
          </a:p>
          <a:p>
            <a:r>
              <a:t>• Jira (agile/Scrum) pour les projets de développement, MS Project (prédictif) pour les projets structurants type ERP.</a:t>
            </a:r>
          </a:p>
          <a:p>
            <a:r>
              <a:t>• Planner/Teams pour la coordination quotidienne, Power BI pour consolider l'avancement, le budget et les KPI à destination de la direction.</a:t>
            </a:r>
          </a:p>
          <a:p>
            <a:r>
              <a:t>• Argument : on capitalise sur l'écosystème Microsoft déjà en place (maîtrise des coûts et de l'adoption) et on couvre les deux natures de projets.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Outils de pilotage du changement — rendre l'adhésion mesurable.</a:t>
            </a:r>
          </a:p>
          <a:p>
            <a:r>
              <a:t>• Teams/Viva Engage pour communiquer dans les deux sens ; MS Forms pour un baromètre d'adhésion (avant/après) ; LMS pour la formation ; Power BI pour suivre l'adoption.</a:t>
            </a:r>
          </a:p>
          <a:p>
            <a:r>
              <a:t>• Relais humains : un réseau d'ambassadeurs par site/filiale, des points réguliers.</a:t>
            </a:r>
          </a:p>
          <a:p>
            <a:r>
              <a:t>• Lien méthode : ces indicateurs alimentent la démarche de conduite du changement (ADKAR/Kotter) — on pilote l'humain comme un projet.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D6E25-CBE6-1550-0DDF-AB094A89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D9B5E-D288-04B8-9040-D2CB72090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40943-A420-C5F5-B762-395332916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Outils de pilotage du changement — rendre l'adhésion mesurable.</a:t>
            </a:r>
          </a:p>
          <a:p>
            <a:r>
              <a:t>• Teams/Viva Engage pour communiquer dans les deux sens ; MS Forms pour un baromètre d'adhésion (avant/après) ; LMS pour la formation ; Power BI pour suivre l'adoption.</a:t>
            </a:r>
          </a:p>
          <a:p>
            <a:r>
              <a:t>• Relais humains : un réseau d'ambassadeurs par site/filiale, des points réguliers.</a:t>
            </a:r>
          </a:p>
          <a:p>
            <a:r>
              <a:t>• Lien méthode : ces indicateurs alimentent la démarche de conduite du changement (ADKAR/Kotter) — on pilote l'humain comme un projet.</a:t>
            </a:r>
          </a:p>
        </p:txBody>
      </p:sp>
    </p:spTree>
    <p:extLst>
      <p:ext uri="{BB962C8B-B14F-4D97-AF65-F5344CB8AC3E}">
        <p14:creationId xmlns:p14="http://schemas.microsoft.com/office/powerpoint/2010/main" val="174900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d'adhésion — le moment de convaincre la direction (critère fortement pondéré).</a:t>
            </a:r>
          </a:p>
          <a:p>
            <a:r>
              <a:t>• Dérouler la logique constat → proposition → bénéfices, en restant sur le « pourquoi ».</a:t>
            </a:r>
          </a:p>
          <a:p>
            <a:r>
              <a:t>• Constat : les faiblesses déjà démontrées (silos, support informel, infra/sécurité fragiles).</a:t>
            </a:r>
          </a:p>
          <a:p>
            <a:r>
              <a:t>• Proposition : nos axes (urbanisation/ERP, cloud + ITIL, sécurité/conformité).</a:t>
            </a:r>
          </a:p>
          <a:p>
            <a:r>
              <a:t>• Bénéfices : productivité, fiabilité des données, résilience, alignement stratégique — le langage de la direction (valeur et risque).</a:t>
            </a:r>
          </a:p>
          <a:p>
            <a:r>
              <a:t>• L'ASK : faire valider la politique de conduite du changement et lancer le schéma directeur. Message clé : la technique ne suffit pas, l'adhésion des équipes conditionne la réussite.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— donner une vision claire et ouvrir l'échange.</a:t>
            </a:r>
          </a:p>
          <a:p>
            <a:r>
              <a:t>• Résumer la trajectoire en 3 horizons : quick wins (ERP lot 1, incidents ITIL, audit sécurité), moyen terme (cloud, ERP lot 2, BI groupe), cible (SI urbanisé, agile, sécurisé).</a:t>
            </a:r>
          </a:p>
          <a:p>
            <a:r>
              <a:t>• Reboucler sur la stratégie 2026-2029 : le SI est le moteur de la croissance, du durable et de l'industrie 4.0.</a:t>
            </a:r>
          </a:p>
          <a:p>
            <a:r>
              <a:t>• Inviter aux questions avec confiance ; garder en réserve les notes des slides précédentes pour les Q/R.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62625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●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○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■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●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○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■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●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○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1100"/>
              <a:buFont typeface="Proxima Nova"/>
              <a:buChar char="■"/>
              <a:defRPr sz="1100">
                <a:solidFill>
                  <a:srgbClr val="3C3C3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4889500" cy="190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r-FR" sz="3200" dirty="0"/>
              <a:t>Manager les équipes et la transformation du SI</a:t>
            </a:r>
          </a:p>
        </p:txBody>
      </p:sp>
      <p:sp>
        <p:nvSpPr>
          <p:cNvPr id="49" name="Google Shape;49;p15"/>
          <p:cNvSpPr txBox="1">
            <a:spLocks noGrp="1"/>
          </p:cNvSpPr>
          <p:nvPr>
            <p:ph type="subTitle" idx="1"/>
          </p:nvPr>
        </p:nvSpPr>
        <p:spPr>
          <a:xfrm>
            <a:off x="711200" y="3403600"/>
            <a:ext cx="4889500" cy="7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Groupe </a:t>
            </a:r>
            <a:r>
              <a:rPr dirty="0" err="1"/>
              <a:t>Torpier</a:t>
            </a:r>
            <a:r>
              <a:rPr dirty="0"/>
              <a:t> —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collaboratif</a:t>
            </a:r>
            <a:r>
              <a:rPr dirty="0"/>
              <a:t> DSI</a:t>
            </a:r>
          </a:p>
          <a:p>
            <a:r>
              <a:rPr dirty="0"/>
              <a:t>[</a:t>
            </a:r>
            <a:r>
              <a:rPr dirty="0" err="1"/>
              <a:t>Membres</a:t>
            </a:r>
            <a:r>
              <a:rPr dirty="0"/>
              <a:t> du </a:t>
            </a:r>
            <a:r>
              <a:rPr dirty="0" err="1"/>
              <a:t>groupe</a:t>
            </a:r>
            <a:r>
              <a:rPr dirty="0"/>
              <a:t>]</a:t>
            </a:r>
          </a:p>
        </p:txBody>
      </p:sp>
      <p:grpSp>
        <p:nvGrpSpPr>
          <p:cNvPr id="51" name="Google Shape;51;p15"/>
          <p:cNvGrpSpPr/>
          <p:nvPr/>
        </p:nvGrpSpPr>
        <p:grpSpPr>
          <a:xfrm>
            <a:off x="5695999" y="980929"/>
            <a:ext cx="3000014" cy="3181642"/>
            <a:chOff x="1825800" y="1651625"/>
            <a:chExt cx="539989" cy="571775"/>
          </a:xfrm>
        </p:grpSpPr>
        <p:sp>
          <p:nvSpPr>
            <p:cNvPr id="52" name="Google Shape;52;p15"/>
            <p:cNvSpPr/>
            <p:nvPr/>
          </p:nvSpPr>
          <p:spPr>
            <a:xfrm>
              <a:off x="2093189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1825800" y="196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2093189" y="196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1851375" y="1730300"/>
              <a:ext cx="206325" cy="209275"/>
            </a:xfrm>
            <a:custGeom>
              <a:avLst/>
              <a:gdLst/>
              <a:ahLst/>
              <a:cxnLst/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048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Le Groupe Torpier — activités &amp; stratégie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977639" cy="320040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09160" y="1325880"/>
            <a:ext cx="3977639" cy="320040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" y="1490472"/>
            <a:ext cx="2834640" cy="310896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Le Groupe &amp; ses activités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3752" y="1490472"/>
            <a:ext cx="2743200" cy="310896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Stratégie 2026-2029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92808"/>
            <a:ext cx="3648455" cy="2487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3C3B"/>
                </a:solidFill>
                <a:latin typeface="Arial"/>
              </a:rPr>
              <a:t>Spécialiste des aménagements d'extérieur, de la conception/R&amp;D à la production et la commercialisation. Deux filiales :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150" b="1">
                <a:solidFill>
                  <a:srgbClr val="E95513"/>
                </a:solidFill>
                <a:latin typeface="Arial"/>
              </a:rPr>
              <a:t>TORPIER SAS — structures &amp; mobilier extérieurs en bois (charpente, pergolas, abris-bus)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E95513"/>
                </a:solidFill>
                <a:latin typeface="Arial"/>
              </a:rPr>
              <a:t>POTIER SARL — mobilier urbain &amp; luminaire extérieurs en aluminium (leader français)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150" b="0">
                <a:solidFill>
                  <a:srgbClr val="3C3C3B"/>
                </a:solidFill>
                <a:latin typeface="Arial"/>
              </a:rPr>
              <a:t>•  Sites : siège de Nanterre · usine d'Arras · usine en Finlande · bureaux commerciaux en Allemagne, Italie et Espagne</a:t>
            </a:r>
          </a:p>
          <a:p>
            <a:pPr algn="l">
              <a:spcBef>
                <a:spcPts val="500"/>
              </a:spcBef>
              <a:spcAft>
                <a:spcPts val="400"/>
              </a:spcAft>
            </a:pPr>
            <a:r>
              <a:rPr sz="1150" b="0">
                <a:solidFill>
                  <a:srgbClr val="3C3C3B"/>
                </a:solidFill>
                <a:latin typeface="Arial"/>
              </a:rPr>
              <a:t>•  +30 % de CA (2023-2025), virage e-commerce, digitalisation des processus &amp; télétravail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1892808"/>
            <a:ext cx="3648455" cy="2487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C3C3B"/>
                </a:solidFill>
                <a:latin typeface="Arial"/>
              </a:rPr>
              <a:t>4 axes définis par la Direction (S. Crélin) :</a:t>
            </a:r>
          </a:p>
          <a:p>
            <a:pPr algn="l">
              <a:spcBef>
                <a:spcPts val="900"/>
              </a:spcBef>
              <a:spcAft>
                <a:spcPts val="400"/>
              </a:spcAft>
            </a:pPr>
            <a:r>
              <a:rPr sz="1200" b="0">
                <a:solidFill>
                  <a:srgbClr val="3C3C3B"/>
                </a:solidFill>
                <a:latin typeface="Arial"/>
              </a:rPr>
              <a:t>1.  Diversification des cibles clients (privé, promoteurs immobiliers)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200" b="0">
                <a:solidFill>
                  <a:srgbClr val="3C3C3B"/>
                </a:solidFill>
                <a:latin typeface="Arial"/>
              </a:rPr>
              <a:t>2.  Développement durable (traçabilité bois, certification fournisseurs)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200" b="0">
                <a:solidFill>
                  <a:srgbClr val="3C3C3B"/>
                </a:solidFill>
                <a:latin typeface="Arial"/>
              </a:rPr>
              <a:t>3.  Industrie 4.0 (IoT, maintenance prédictive, automatisation)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4.  Optimisation du SI — interconnexion des sites, résilience &amp; agilité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95513"/>
                </a:solidFill>
                <a:latin typeface="Arial"/>
              </a:rPr>
              <a:t>→ périmètre de la DSI : notre point de départ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Activités &amp; stratégie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23"/>
          <p:cNvCxnSpPr/>
          <p:nvPr/>
        </p:nvCxnSpPr>
        <p:spPr>
          <a:xfrm>
            <a:off x="4571963" y="1154430"/>
            <a:ext cx="0" cy="320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3"/>
          <p:cNvCxnSpPr/>
          <p:nvPr/>
        </p:nvCxnSpPr>
        <p:spPr>
          <a:xfrm>
            <a:off x="2998500" y="2754630"/>
            <a:ext cx="3147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2" name="Google Shape;452;p23"/>
          <p:cNvGrpSpPr/>
          <p:nvPr/>
        </p:nvGrpSpPr>
        <p:grpSpPr>
          <a:xfrm>
            <a:off x="835800" y="1292959"/>
            <a:ext cx="3623127" cy="1348800"/>
            <a:chOff x="835800" y="1292959"/>
            <a:chExt cx="3623127" cy="1348800"/>
          </a:xfrm>
        </p:grpSpPr>
        <p:sp>
          <p:nvSpPr>
            <p:cNvPr id="453" name="Google Shape;453;p23"/>
            <p:cNvSpPr/>
            <p:nvPr/>
          </p:nvSpPr>
          <p:spPr>
            <a:xfrm>
              <a:off x="3100527" y="1292959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54" name="Google Shape;454;p23"/>
            <p:cNvGrpSpPr/>
            <p:nvPr/>
          </p:nvGrpSpPr>
          <p:grpSpPr>
            <a:xfrm>
              <a:off x="835800" y="1577809"/>
              <a:ext cx="1986001" cy="780875"/>
              <a:chOff x="1703079" y="1342875"/>
              <a:chExt cx="1986001" cy="780875"/>
            </a:xfrm>
          </p:grpSpPr>
          <p:sp>
            <p:nvSpPr>
              <p:cNvPr id="455" name="Google Shape;455;p23"/>
              <p:cNvSpPr txBox="1"/>
              <p:nvPr/>
            </p:nvSpPr>
            <p:spPr>
              <a:xfrm>
                <a:off x="1703079" y="13428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Forces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56" name="Google Shape;456;p23"/>
              <p:cNvSpPr txBox="1"/>
              <p:nvPr/>
            </p:nvSpPr>
            <p:spPr>
              <a:xfrm>
                <a:off x="1703080" y="16389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2 filiales complémentaires (bois + aluminium/luminaire), chaîne intégrée, forte croissance.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57" name="Google Shape;457;p23"/>
          <p:cNvGrpSpPr/>
          <p:nvPr/>
        </p:nvGrpSpPr>
        <p:grpSpPr>
          <a:xfrm>
            <a:off x="835800" y="2867571"/>
            <a:ext cx="3623127" cy="1348800"/>
            <a:chOff x="835800" y="2867571"/>
            <a:chExt cx="3623127" cy="1348800"/>
          </a:xfrm>
        </p:grpSpPr>
        <p:sp>
          <p:nvSpPr>
            <p:cNvPr id="458" name="Google Shape;458;p23"/>
            <p:cNvSpPr/>
            <p:nvPr/>
          </p:nvSpPr>
          <p:spPr>
            <a:xfrm>
              <a:off x="3100527" y="2867571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835800" y="3150577"/>
              <a:ext cx="1986001" cy="780875"/>
              <a:chOff x="3166119" y="3290475"/>
              <a:chExt cx="1986001" cy="780875"/>
            </a:xfrm>
          </p:grpSpPr>
          <p:sp>
            <p:nvSpPr>
              <p:cNvPr id="460" name="Google Shape;460;p23"/>
              <p:cNvSpPr txBox="1"/>
              <p:nvPr/>
            </p:nvSpPr>
            <p:spPr>
              <a:xfrm>
                <a:off x="3166119" y="32904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Opportunités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61" name="Google Shape;461;p23"/>
              <p:cNvSpPr txBox="1"/>
              <p:nvPr/>
            </p:nvSpPr>
            <p:spPr>
              <a:xfrm>
                <a:off x="3166120" y="35865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Marché privé &amp; promoteurs, demande durable, industrie 4.0, expansion européenne.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62" name="Google Shape;462;p23"/>
          <p:cNvGrpSpPr/>
          <p:nvPr/>
        </p:nvGrpSpPr>
        <p:grpSpPr>
          <a:xfrm>
            <a:off x="4685130" y="1292959"/>
            <a:ext cx="3623070" cy="1348800"/>
            <a:chOff x="4685130" y="1292959"/>
            <a:chExt cx="3623070" cy="1348800"/>
          </a:xfrm>
        </p:grpSpPr>
        <p:sp>
          <p:nvSpPr>
            <p:cNvPr id="463" name="Google Shape;463;p23"/>
            <p:cNvSpPr/>
            <p:nvPr/>
          </p:nvSpPr>
          <p:spPr>
            <a:xfrm>
              <a:off x="4685130" y="1292959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64" name="Google Shape;464;p23"/>
            <p:cNvGrpSpPr/>
            <p:nvPr/>
          </p:nvGrpSpPr>
          <p:grpSpPr>
            <a:xfrm>
              <a:off x="6322200" y="1577808"/>
              <a:ext cx="1986001" cy="780875"/>
              <a:chOff x="4924750" y="1349224"/>
              <a:chExt cx="1986001" cy="780875"/>
            </a:xfrm>
          </p:grpSpPr>
          <p:sp>
            <p:nvSpPr>
              <p:cNvPr id="465" name="Google Shape;465;p23"/>
              <p:cNvSpPr txBox="1"/>
              <p:nvPr/>
            </p:nvSpPr>
            <p:spPr>
              <a:xfrm>
                <a:off x="4924750" y="1349224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Faiblesses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66" name="Google Shape;466;p23"/>
              <p:cNvSpPr txBox="1"/>
              <p:nvPr/>
            </p:nvSpPr>
            <p:spPr>
              <a:xfrm>
                <a:off x="4924751" y="1645299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Filiales en silos, SI hétérogène, processus manuels (Excel/mail), support sans indicateurs.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67" name="Google Shape;467;p23"/>
          <p:cNvGrpSpPr/>
          <p:nvPr/>
        </p:nvGrpSpPr>
        <p:grpSpPr>
          <a:xfrm>
            <a:off x="4685130" y="2867571"/>
            <a:ext cx="3623070" cy="1348800"/>
            <a:chOff x="4685130" y="2867571"/>
            <a:chExt cx="3623070" cy="1348800"/>
          </a:xfrm>
        </p:grpSpPr>
        <p:sp>
          <p:nvSpPr>
            <p:cNvPr id="468" name="Google Shape;468;p23"/>
            <p:cNvSpPr/>
            <p:nvPr/>
          </p:nvSpPr>
          <p:spPr>
            <a:xfrm>
              <a:off x="4685130" y="2867571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69" name="Google Shape;469;p23"/>
            <p:cNvGrpSpPr/>
            <p:nvPr/>
          </p:nvGrpSpPr>
          <p:grpSpPr>
            <a:xfrm>
              <a:off x="6322200" y="3150577"/>
              <a:ext cx="1986001" cy="780875"/>
              <a:chOff x="6537291" y="3564798"/>
              <a:chExt cx="1986001" cy="780875"/>
            </a:xfrm>
          </p:grpSpPr>
          <p:sp>
            <p:nvSpPr>
              <p:cNvPr id="470" name="Google Shape;470;p23"/>
              <p:cNvSpPr txBox="1"/>
              <p:nvPr/>
            </p:nvSpPr>
            <p:spPr>
              <a:xfrm>
                <a:off x="6537291" y="3564798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Menaces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71" name="Google Shape;471;p23"/>
              <p:cNvSpPr txBox="1"/>
              <p:nvPr/>
            </p:nvSpPr>
            <p:spPr>
              <a:xfrm>
                <a:off x="6537292" y="3860873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Approvisionnement tendu, pression réglementaire (RGPD), risques cyber &amp; continuité.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sp>
        <p:nvSpPr>
          <p:cNvPr id="472" name="Rectangle 471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TextBox 472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SWOT de l'entreprise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Cartographie des processus métiers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Outillés par le SI — tâches principales &amp; acteurs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960120" cy="749808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PILOTAGE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234440"/>
            <a:ext cx="7132320" cy="749808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64208" y="1453896"/>
            <a:ext cx="2194560" cy="310896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Pilotage &amp; gouvernance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1307592"/>
            <a:ext cx="45720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Stratégie &amp; schéma directeur SI · pilotage budgétaire · performance (KPI)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900" b="1">
                <a:solidFill>
                  <a:srgbClr val="E95513"/>
                </a:solidFill>
                <a:latin typeface="Arial"/>
              </a:rPr>
              <a:t>Acteurs : Direction Générale · DSI · directions de filiales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84831"/>
            <a:ext cx="960120" cy="1874519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RÉALISATION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084831"/>
            <a:ext cx="1664208" cy="1874519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27632" y="2176271"/>
            <a:ext cx="1517904" cy="457200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Commercial &amp; relation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724911"/>
            <a:ext cx="1444752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Prospection &amp; devis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Commande (ADV)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Vente en ligne · SAV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538726"/>
            <a:ext cx="1444752" cy="38404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Force de vente · ADV · E-commerce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98063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95513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2084831"/>
            <a:ext cx="1664208" cy="1874519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19856" y="2176271"/>
            <a:ext cx="1517904" cy="457200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Conception &amp; R&amp;D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724911"/>
            <a:ext cx="1444752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Bureau d'études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Conception CAO / BIM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Prototypage · nomenclatures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538726"/>
            <a:ext cx="1444752" cy="38404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Bureau d'études · R&amp;D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2798063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95513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2084831"/>
            <a:ext cx="1664208" cy="1874519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12080" y="2176271"/>
            <a:ext cx="1517904" cy="457200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Production &amp; qualité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724911"/>
            <a:ext cx="1444752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Planification (GPAO)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Fabrication Arras / Finlande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Contrôle qualité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538726"/>
            <a:ext cx="1444752" cy="38404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Ateliers · Méthodes · Qualité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798063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95513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1152" y="2084831"/>
            <a:ext cx="1664208" cy="1874519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04304" y="2176271"/>
            <a:ext cx="1517904" cy="457200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Logistique &amp; livraison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724911"/>
            <a:ext cx="1444752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Gestion des stocks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Achats &amp; approvisionnement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•  Expédition · livraison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538726"/>
            <a:ext cx="1444752" cy="38404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Supply chain · Magasin · Achats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59936"/>
            <a:ext cx="960120" cy="73152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rIns="2743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480" y="4059936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645920" y="4151376"/>
            <a:ext cx="2103120" cy="310896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Finance &amp; comptabilité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8" y="4489704"/>
            <a:ext cx="20665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3C3C3B"/>
                </a:solidFill>
                <a:latin typeface="Arial"/>
              </a:rPr>
              <a:t>DAF · Comptabilité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7640" y="4059936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023360" y="4151376"/>
            <a:ext cx="2194560" cy="310896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Ressources humaines &amp; paie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7368" y="4489704"/>
            <a:ext cx="20665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3C3C3B"/>
                </a:solidFill>
                <a:latin typeface="Arial"/>
              </a:rPr>
              <a:t>RH · Paie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059936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92240" y="4151376"/>
            <a:ext cx="2103120" cy="310896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Systèmes d'information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489704"/>
            <a:ext cx="2066544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3C3C3B"/>
                </a:solidFill>
                <a:latin typeface="Arial"/>
              </a:rPr>
              <a:t>DSI · Support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Processus</a:t>
            </a:r>
          </a:p>
        </p:txBody>
      </p:sp>
    </p:spTree>
    <p:extLst>
      <p:ext uri="{BB962C8B-B14F-4D97-AF65-F5344CB8AC3E}">
        <p14:creationId xmlns:p14="http://schemas.microsoft.com/office/powerpoint/2010/main" val="180687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Applications du SI ↔ fonctions métiers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Deux filiales, des applications hétérogènes pour les mêmes fonctions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Fonction métier</a:t>
                      </a:r>
                    </a:p>
                  </a:txBody>
                  <a:tcPr marL="73152" marR="45720" marT="18288" marB="18288" anchor="ctr">
                    <a:solidFill>
                      <a:srgbClr val="3C3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TORPIER SAS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POTIER SARL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Relation client (CRM)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Microsoft Dynamics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Zoho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Production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GesProd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GesProd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Gestion économique &amp; financière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SAGE Compta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ISA Compta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Paie &amp; ressources humaines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SAGE Paie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ISA Compta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Gestion des temps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OCTIME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— (Excel)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Qualité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Qualéval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Portail décisionnel (BI)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SAP BusinessObjects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Reporting d'activité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I-MAGE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I-MAGE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1">
                          <a:solidFill>
                            <a:srgbClr val="3C3C3B"/>
                          </a:solidFill>
                          <a:latin typeface="Arial"/>
                        </a:rPr>
                        <a:t>Gestion de projets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SuiteProG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50" b="0">
                          <a:solidFill>
                            <a:srgbClr val="3C3C3B"/>
                          </a:solidFill>
                          <a:latin typeface="Arial"/>
                        </a:rPr>
                        <a:t>Excel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95513"/>
                </a:solidFill>
                <a:latin typeface="Arial"/>
              </a:rPr>
              <a:t>Cellules orangées = applications divergentes entre filiales (silos). Seuls GesProd et I-MAGE sont communs → cible : ERP unique (projets P7–P8) &amp; urbanisation du 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Applis ↔ fonctions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Strate technique ↔ applications supportées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Le socle d'infrastructure et de réseau sous le SI applicatif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Composant technique</a:t>
                      </a:r>
                    </a:p>
                  </a:txBody>
                  <a:tcPr marL="73152" marR="45720" marT="18288" marB="18288" anchor="ctr">
                    <a:solidFill>
                      <a:srgbClr val="3C3C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Rôle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Applications / services supportés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Serveurs hôtes Hyper-V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Virtualisation (VM applicatives)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Dynamics, GesProd, SAGE / ISA, Qualéval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Cluster SQL Server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Bases de données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Dynamics, GesProd, SuiteProG, BO / I-MAGE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Active Directory + DNS/DHCP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Annuaire &amp; authentification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Accès et SSO de toutes les applications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Serveur de fichiers (partages)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Stockage bureautique &amp; GED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Documents, Qualéval, fichiers Excel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Serveur de messagerie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Mail &amp; agenda (à mutualiser, P10)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Messagerie, collaboration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Sauvegarde Veeam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Sauvegarde &amp; reprise (PRA)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Continuité de l'ensemble des applications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Pare-feu FortiGate + VPN IPSec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Sécurité périmétrique &amp; accès distant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E-commerce, télétravail, liaisons inter-sites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Switchs Cisco + VLAN 3/20/30/50/66/99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Segmentation réseau (LAN, WiFi, Admin)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Postes, serveurs, WiFi invité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1">
                          <a:solidFill>
                            <a:srgbClr val="3C3C3B"/>
                          </a:solidFill>
                          <a:latin typeface="Arial"/>
                        </a:rPr>
                        <a:t>Liaison MPLS inter-sites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WAN entre sites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900" b="0">
                          <a:solidFill>
                            <a:srgbClr val="3C3C3B"/>
                          </a:solidFill>
                          <a:latin typeface="Arial"/>
                        </a:rPr>
                        <a:t>Relie Nanterre · Arras · Finlande · bureaux UE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95513"/>
                </a:solidFill>
                <a:latin typeface="Arial"/>
              </a:rPr>
              <a:t>Socle vieillissant et peu résilient (PRA partiel, messagerie non mutualisée) → justifie l'axe « Move to Cloud » et la sécurisation du 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Infra ↔ applis</a:t>
            </a:r>
          </a:p>
        </p:txBody>
      </p:sp>
    </p:spTree>
    <p:extLst>
      <p:ext uri="{BB962C8B-B14F-4D97-AF65-F5344CB8AC3E}">
        <p14:creationId xmlns:p14="http://schemas.microsoft.com/office/powerpoint/2010/main" val="337400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5 axes d'amélioration du SI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Cohérents avec la stratégie 2026-2029 et le diagnostic de l'existant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621792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6072" y="1389888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325880"/>
            <a:ext cx="45720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C3C3B"/>
                </a:solidFill>
                <a:latin typeface="Arial"/>
              </a:rPr>
              <a:t>Uniformiser et urbaniser le SI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Silos applicatifs entre filiales → cible &amp; cartographie communes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389888"/>
            <a:ext cx="19050" cy="402336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9592" y="1325880"/>
            <a:ext cx="23317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INDICATEUR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% d'applications cartographiées / urbanisées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93392"/>
            <a:ext cx="8229600" cy="621792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6072" y="2103120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39112"/>
            <a:ext cx="45720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C3C3B"/>
                </a:solidFill>
                <a:latin typeface="Arial"/>
              </a:rPr>
              <a:t>Move to Cloud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Infrastructure vieillissante → hébergement cloud, élasticité &amp; PRA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2103120"/>
            <a:ext cx="19050" cy="402336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9592" y="2039112"/>
            <a:ext cx="23317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INDICATEUR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Disponibilité (uptime) &amp; part des charges migrées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06624"/>
            <a:ext cx="8229600" cy="621792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" y="2816352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752344"/>
            <a:ext cx="45720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C3C3B"/>
                </a:solidFill>
                <a:latin typeface="Arial"/>
              </a:rPr>
              <a:t>Référentiel unique de gouvernance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Pratiques DSI informelles → cadre commun ITIL (projets &amp; services)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816352"/>
            <a:ext cx="19050" cy="402336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2752344"/>
            <a:ext cx="23317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INDICATEUR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% de processus DSI formalisés et outillés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19856"/>
            <a:ext cx="8229600" cy="621792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6072" y="3529584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465576"/>
            <a:ext cx="45720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C3C3B"/>
                </a:solidFill>
                <a:latin typeface="Arial"/>
              </a:rPr>
              <a:t>Gestion des services et des incidents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Support IT sans suivi → centre de services ITSM &amp; engagements (SLA)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529584"/>
            <a:ext cx="19050" cy="402336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79592" y="3465576"/>
            <a:ext cx="23317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INDICATEUR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Délai moyen de résolution (MTTR) &amp; respect des SLA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33088"/>
            <a:ext cx="8229600" cy="621792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6072" y="4242816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178808"/>
            <a:ext cx="457200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C3C3B"/>
                </a:solidFill>
                <a:latin typeface="Arial"/>
              </a:rPr>
              <a:t>Sécurité et conformité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Exposition cyber &amp; RGPD non maîtrisée → sécuriser et mettre en conformité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4242816"/>
            <a:ext cx="19050" cy="402336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9592" y="4178808"/>
            <a:ext cx="2331720" cy="53035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E95513"/>
                </a:solidFill>
                <a:latin typeface="Arial"/>
              </a:rPr>
              <a:t>INDICATEUR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Conformité RGPD &amp; vulnérabilités critiques traitées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5 axes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Quel référentiel pour piloter la transformation ?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Comparaison ITIL · COBIT · Scrum-Agile et choix pour Torpier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70048" cy="31546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2450592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83664"/>
            <a:ext cx="237744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dirty="0">
                <a:solidFill>
                  <a:srgbClr val="E95513"/>
                </a:solidFill>
                <a:latin typeface="Arial"/>
              </a:rPr>
              <a:t>À quoi </a:t>
            </a:r>
            <a:r>
              <a:rPr sz="850" b="1" dirty="0" err="1">
                <a:solidFill>
                  <a:srgbClr val="E95513"/>
                </a:solidFill>
                <a:latin typeface="Arial"/>
              </a:rPr>
              <a:t>ça</a:t>
            </a:r>
            <a:r>
              <a:rPr sz="850" b="1" dirty="0">
                <a:solidFill>
                  <a:srgbClr val="E95513"/>
                </a:solidFill>
                <a:latin typeface="Arial"/>
              </a:rPr>
              <a:t> </a:t>
            </a:r>
            <a:r>
              <a:rPr sz="850" b="1" dirty="0" err="1">
                <a:solidFill>
                  <a:srgbClr val="E95513"/>
                </a:solidFill>
                <a:latin typeface="Arial"/>
              </a:rPr>
              <a:t>sert</a:t>
            </a:r>
            <a:endParaRPr sz="850" b="1" dirty="0">
              <a:solidFill>
                <a:srgbClr val="E95513"/>
              </a:solidFill>
              <a:latin typeface="Arial"/>
            </a:endParaRP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 dirty="0">
                <a:solidFill>
                  <a:srgbClr val="3C3C3B"/>
                </a:solidFill>
                <a:latin typeface="Arial"/>
              </a:rPr>
              <a:t>Gestion des services IT (support, incidents, changements, SLA)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850" b="1" dirty="0" err="1">
                <a:solidFill>
                  <a:srgbClr val="E95513"/>
                </a:solidFill>
                <a:latin typeface="Arial"/>
              </a:rPr>
              <a:t>Atouts</a:t>
            </a:r>
            <a:r>
              <a:rPr sz="850" b="1" dirty="0">
                <a:solidFill>
                  <a:srgbClr val="E95513"/>
                </a:solidFill>
                <a:latin typeface="Arial"/>
              </a:rPr>
              <a:t> pour </a:t>
            </a:r>
            <a:r>
              <a:rPr sz="850" b="1" dirty="0" err="1">
                <a:solidFill>
                  <a:srgbClr val="E95513"/>
                </a:solidFill>
                <a:latin typeface="Arial"/>
              </a:rPr>
              <a:t>Torpier</a:t>
            </a:r>
            <a:endParaRPr sz="850" b="1" dirty="0">
              <a:solidFill>
                <a:srgbClr val="E95513"/>
              </a:solidFill>
              <a:latin typeface="Arial"/>
            </a:endParaRP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 dirty="0">
                <a:solidFill>
                  <a:srgbClr val="3C3C3B"/>
                </a:solidFill>
                <a:latin typeface="Arial"/>
              </a:rPr>
              <a:t>Structure un support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aujourd'hui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informel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, met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en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place des SLA,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colle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aux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projets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P9/P10 et à un SI multi-sites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en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exploitation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850" b="1" dirty="0" err="1">
                <a:solidFill>
                  <a:srgbClr val="E95513"/>
                </a:solidFill>
                <a:latin typeface="Arial"/>
              </a:rPr>
              <a:t>Limites</a:t>
            </a:r>
            <a:endParaRPr sz="850" b="1" dirty="0">
              <a:solidFill>
                <a:srgbClr val="E95513"/>
              </a:solidFill>
              <a:latin typeface="Arial"/>
            </a:endParaRP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 dirty="0">
                <a:solidFill>
                  <a:srgbClr val="3C3C3B"/>
                </a:solidFill>
                <a:latin typeface="Arial"/>
              </a:rPr>
              <a:t>Peu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orienté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développement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/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agilité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;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lourd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si</a:t>
            </a:r>
            <a:r>
              <a:rPr sz="900" b="0" dirty="0">
                <a:solidFill>
                  <a:srgbClr val="3C3C3B"/>
                </a:solidFill>
                <a:latin typeface="Arial"/>
              </a:rPr>
              <a:t> appliqué </a:t>
            </a:r>
            <a:r>
              <a:rPr sz="900" b="0" dirty="0" err="1">
                <a:solidFill>
                  <a:srgbClr val="3C3C3B"/>
                </a:solidFill>
                <a:latin typeface="Arial"/>
              </a:rPr>
              <a:t>intégralement</a:t>
            </a:r>
            <a:endParaRPr sz="900" b="0" dirty="0">
              <a:solidFill>
                <a:srgbClr val="3C3C3B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014216"/>
            <a:ext cx="2450592" cy="329184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RETENU — socle principal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280160"/>
            <a:ext cx="2670048" cy="31546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46704" y="1389888"/>
            <a:ext cx="2450592" cy="384048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83664"/>
            <a:ext cx="237744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3C3C3B"/>
                </a:solidFill>
                <a:latin typeface="Arial"/>
              </a:rPr>
              <a:t>À quoi ça sert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Gouvernance &amp; audit du SI (alignement, contrôle, conformité)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850" b="1">
                <a:solidFill>
                  <a:srgbClr val="3C3C3B"/>
                </a:solidFill>
                <a:latin typeface="Arial"/>
              </a:rPr>
              <a:t>Atouts pour Torpier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Cadre de gouvernance et de conformité (RGPD), pilotage par la valeur et les risques pour la direction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850" b="1">
                <a:solidFill>
                  <a:srgbClr val="3C3C3B"/>
                </a:solidFill>
                <a:latin typeface="Arial"/>
              </a:rPr>
              <a:t>Limites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Très normatif et orienté audit ; lourd pour une ETI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4014216"/>
            <a:ext cx="2450592" cy="329184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En appui — gouvernance &amp; conformité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280160"/>
            <a:ext cx="2670048" cy="31546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1389888"/>
            <a:ext cx="2450592" cy="384048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Scrum / Agile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83664"/>
            <a:ext cx="237744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6B6B6B"/>
                </a:solidFill>
                <a:latin typeface="Arial"/>
              </a:rPr>
              <a:t>À quoi ça sert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Gestion itérative de projets et de produits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850" b="1">
                <a:solidFill>
                  <a:srgbClr val="6B6B6B"/>
                </a:solidFill>
                <a:latin typeface="Arial"/>
              </a:rPr>
              <a:t>Atouts pour Torpier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Idéal pour les projets de dév (CRM, e-commerce, BI) : time-to-market et forte implication des métiers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850" b="1">
                <a:solidFill>
                  <a:srgbClr val="6B6B6B"/>
                </a:solidFill>
                <a:latin typeface="Arial"/>
              </a:rPr>
              <a:t>Limites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3C3C3B"/>
                </a:solidFill>
                <a:latin typeface="Arial"/>
              </a:rPr>
              <a:t>Ne couvre ni l'exploitation ni la gouvernance globale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014216"/>
            <a:ext cx="2450592" cy="329184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En appui — projets de dév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07992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95513"/>
                </a:solidFill>
                <a:latin typeface="Arial"/>
              </a:rPr>
              <a:t>Choix Torpier : ITIL comme socle (services &amp; support), complété par COBIT (gouvernance / conformité RGPD) et Scrum-Agile (projets de dév).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Référentiels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Organisation des équipes SI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Une ligne hiérarchique (DSI) activée en mode projet transversal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2011680" cy="566928"/>
          </a:xfrm>
          <a:prstGeom prst="roundRect">
            <a:avLst>
              <a:gd name="adj" fmla="val 5000"/>
            </a:avLst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307592"/>
            <a:ext cx="192024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DSI / RSSI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800" b="0">
                <a:solidFill>
                  <a:srgbClr val="D6CDC6"/>
                </a:solidFill>
                <a:latin typeface="Arial"/>
              </a:rPr>
              <a:t>Ludovic Besnier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2475" y="1847088"/>
            <a:ext cx="19050" cy="27432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2121408"/>
            <a:ext cx="64008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48943" y="2121408"/>
            <a:ext cx="19050" cy="256032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37744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404872"/>
            <a:ext cx="169164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C3C3B"/>
                </a:solidFill>
                <a:latin typeface="Arial"/>
              </a:rPr>
              <a:t>Chefs de projet SI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800" b="0">
                <a:solidFill>
                  <a:srgbClr val="3C3C3B"/>
                </a:solidFill>
                <a:latin typeface="Arial"/>
              </a:rPr>
              <a:t>F. Cerpiat · G. Salas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7471" y="2121408"/>
            <a:ext cx="19050" cy="256032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05456" y="237744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51176" y="2404872"/>
            <a:ext cx="169164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C3C3B"/>
                </a:solidFill>
                <a:latin typeface="Arial"/>
              </a:rPr>
              <a:t>Développement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800" b="0">
                <a:solidFill>
                  <a:srgbClr val="3C3C3B"/>
                </a:solidFill>
                <a:latin typeface="Arial"/>
              </a:rPr>
              <a:t>W. Roux · M. Tamiari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5999" y="2121408"/>
            <a:ext cx="19050" cy="256032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43984" y="237744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9704" y="2404872"/>
            <a:ext cx="169164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C3C3B"/>
                </a:solidFill>
                <a:latin typeface="Arial"/>
              </a:rPr>
              <a:t>Exploitation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800" b="0">
                <a:solidFill>
                  <a:srgbClr val="3C3C3B"/>
                </a:solidFill>
                <a:latin typeface="Arial"/>
              </a:rPr>
              <a:t>C. Legrand · A. Ripaud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4527" y="2121408"/>
            <a:ext cx="19050" cy="256032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82512" y="2377440"/>
            <a:ext cx="1783080" cy="841248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404872"/>
            <a:ext cx="169164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C3C3B"/>
                </a:solidFill>
                <a:latin typeface="Arial"/>
              </a:rPr>
              <a:t>Support utilisateur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800" b="0">
                <a:solidFill>
                  <a:srgbClr val="3C3C3B"/>
                </a:solidFill>
                <a:latin typeface="Arial"/>
              </a:rPr>
              <a:t>A. Pilon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8229600" cy="914400"/>
          </a:xfrm>
          <a:prstGeom prst="roundRect">
            <a:avLst/>
          </a:prstGeom>
          <a:solidFill>
            <a:srgbClr val="F8F0EA"/>
          </a:solidFill>
          <a:ln w="15875">
            <a:solidFill>
              <a:srgbClr val="E95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3759200"/>
            <a:ext cx="2743200" cy="609600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 anchorCtr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Gouvernance transversale — mode projet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703320"/>
            <a:ext cx="493776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Comités de pilotage projet · référents métiers des filiales (TORPIER &amp; POTIER) · RSSI en sécurité transverse · prestataires externes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95513"/>
                </a:solidFill>
                <a:latin typeface="Arial"/>
              </a:rPr>
              <a:t>Vertical = lien hiérarchique (autorité) · Horizontal = coopération transversale par projet (cartographie des compétences).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Équipes 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Matrice RACI des responsabilités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Qui fait quoi sur la transformation du 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Activité / responsabilité</a:t>
                      </a:r>
                    </a:p>
                  </a:txBody>
                  <a:tcPr marL="73152" marR="45720" marT="18288" marB="18288" anchor="ctr">
                    <a:solidFill>
                      <a:srgbClr val="3C3C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DG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DSI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Chef de projet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Équipes IT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Métiers filiales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Prestataires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Stratégie &amp; schéma directeur SI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Budget &amp; arbitrage des priorités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Pilotage des projets de transformation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Urbanisation &amp; ERP unique (P7-P8)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Gouvernance ITIL (services &amp; incidents)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Sécurité &amp; conformité (SMSI / RGPD)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880" b="1">
                          <a:solidFill>
                            <a:srgbClr val="3C3C3B"/>
                          </a:solidFill>
                          <a:latin typeface="Arial"/>
                        </a:rPr>
                        <a:t>Conduite du changement &amp; formation</a:t>
                      </a:r>
                    </a:p>
                  </a:txBody>
                  <a:tcPr marL="73152" marR="45720" marT="18288" marB="18288" anchor="ctr">
                    <a:solidFill>
                      <a:srgbClr val="F8F0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45720" marT="18288" marB="18288" anchor="ctr">
                    <a:solidFill>
                      <a:srgbClr val="E955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1">
                          <a:solidFill>
                            <a:srgbClr val="3C3C3B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C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000" b="0">
                          <a:solidFill>
                            <a:srgbClr val="6B6B6B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22776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95513"/>
                </a:solidFill>
                <a:latin typeface="Arial"/>
              </a:rPr>
              <a:t>R = Réalise   ·   A = Approuve (responsable, 1 seul par ligne)   ·   C = Consulté   ·   I = Informé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RACI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Outils de suivi des projets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Piloter le portefeuille de transformation du 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Jira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Suivi agile des projets de dév (CRM, e-commerce, BI) : backlog, sprints, tickets.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5748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47188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3764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Planification des projets structurants (ERP P7-P8) : jalons, dépendances, charge.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45736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Planner /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Tâches collaboratives et coordination des équipes au quotidien.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52844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44284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Tableau de bord du portefeuille : avancement, budget, KPI par projet.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8229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dirty="0" err="1">
                <a:solidFill>
                  <a:srgbClr val="E95513"/>
                </a:solidFill>
                <a:latin typeface="Arial"/>
              </a:rPr>
              <a:t>Pourquoi</a:t>
            </a:r>
            <a:r>
              <a:rPr sz="1100" b="1" dirty="0">
                <a:solidFill>
                  <a:srgbClr val="E95513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E95513"/>
                </a:solidFill>
                <a:latin typeface="Arial"/>
              </a:rPr>
              <a:t>cet</a:t>
            </a:r>
            <a:r>
              <a:rPr sz="1100" b="1" dirty="0">
                <a:solidFill>
                  <a:srgbClr val="E95513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E95513"/>
                </a:solidFill>
                <a:latin typeface="Arial"/>
              </a:rPr>
              <a:t>outillage</a:t>
            </a:r>
            <a:endParaRPr sz="1100" b="1" dirty="0">
              <a:solidFill>
                <a:srgbClr val="E95513"/>
              </a:solidFill>
              <a:latin typeface="Arial"/>
            </a:endParaRP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000" b="0" dirty="0" err="1">
                <a:solidFill>
                  <a:srgbClr val="3C3C3B"/>
                </a:solidFill>
                <a:latin typeface="Arial"/>
              </a:rPr>
              <a:t>Outils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déjà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présents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dans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l'écosystème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Microsoft de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Torpier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(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coût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et adoption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maîtrisés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). Jira pour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l'agile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, MS Project pour le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prédictif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: on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couvre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les deux natures de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projets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, le tout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consolidé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dans Power BI pour la direction.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Suivi projets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Outils de pilotage du changement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Mesurer l'adhésion et accompagner les utilisateurs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Teams / Viva Engage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Communication descendante et ascendante, animation de communauté.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5748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47188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MS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3764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Baromètre d'adhésion : enquêtes avant/après, remontée des irritants.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45736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LMS / e-learning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Parcours de formation et montée en compétences des utilisateurs.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52844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44284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Power BI (adoption)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0860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Indicateurs d'adoption et d'usage des nouveaux outils.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8229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E95513"/>
                </a:solidFill>
                <a:latin typeface="Arial"/>
              </a:rPr>
              <a:t>Relais </a:t>
            </a:r>
            <a:r>
              <a:rPr sz="1100" b="1" dirty="0" err="1">
                <a:solidFill>
                  <a:srgbClr val="E95513"/>
                </a:solidFill>
                <a:latin typeface="Arial"/>
              </a:rPr>
              <a:t>humains</a:t>
            </a:r>
            <a:endParaRPr sz="1100" b="1" dirty="0">
              <a:solidFill>
                <a:srgbClr val="E95513"/>
              </a:solidFill>
              <a:latin typeface="Arial"/>
            </a:endParaRP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000" b="0" dirty="0">
                <a:solidFill>
                  <a:srgbClr val="3C3C3B"/>
                </a:solidFill>
                <a:latin typeface="Arial"/>
              </a:rPr>
              <a:t>Au-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delà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des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outils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: un réseau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d'ambassadeurs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(un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référent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par site/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filiale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) et des points de communication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réguliers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. La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mesure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d'adoption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nourrit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la boucle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d'amélioration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(ADKAR / Kotter).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Pilotage changement</a:t>
            </a:r>
          </a:p>
        </p:txBody>
      </p:sp>
    </p:spTree>
    <p:extLst>
      <p:ext uri="{BB962C8B-B14F-4D97-AF65-F5344CB8AC3E}">
        <p14:creationId xmlns:p14="http://schemas.microsoft.com/office/powerpoint/2010/main" val="77525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4750-C249-02D1-01F1-42540242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D5C18E-12C8-AA6F-CB66-B6B607CD48E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8CE607-64C8-DDB9-4CF3-A1F93C13AA55}"/>
              </a:ext>
            </a:extLst>
          </p:cNvPr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F4FB2-A3FF-2555-0BF5-D310E8741A46}"/>
              </a:ext>
            </a:extLst>
          </p:cNvPr>
          <p:cNvSpPr txBox="1"/>
          <p:nvPr/>
        </p:nvSpPr>
        <p:spPr>
          <a:xfrm>
            <a:off x="658368" y="333575"/>
            <a:ext cx="8046720" cy="66787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3C3C3B"/>
                </a:solidFill>
                <a:latin typeface="Arial"/>
              </a:rPr>
              <a:t>Outils</a:t>
            </a:r>
            <a:endParaRPr sz="2400" b="1" dirty="0">
              <a:solidFill>
                <a:srgbClr val="3C3C3B"/>
              </a:solidFill>
              <a:latin typeface="Arial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 dirty="0" err="1">
                <a:solidFill>
                  <a:srgbClr val="E95513"/>
                </a:solidFill>
                <a:latin typeface="Arial"/>
              </a:rPr>
              <a:t>Mesurer</a:t>
            </a:r>
            <a:r>
              <a:rPr sz="1200" b="1" dirty="0">
                <a:solidFill>
                  <a:srgbClr val="E95513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E95513"/>
                </a:solidFill>
                <a:latin typeface="Arial"/>
              </a:rPr>
              <a:t>l'adhésion</a:t>
            </a:r>
            <a:r>
              <a:rPr sz="1200" b="1" dirty="0">
                <a:solidFill>
                  <a:srgbClr val="E95513"/>
                </a:solidFill>
                <a:latin typeface="Arial"/>
              </a:rPr>
              <a:t> et </a:t>
            </a:r>
            <a:r>
              <a:rPr sz="1200" b="1" dirty="0" err="1">
                <a:solidFill>
                  <a:srgbClr val="E95513"/>
                </a:solidFill>
                <a:latin typeface="Arial"/>
              </a:rPr>
              <a:t>accompagner</a:t>
            </a:r>
            <a:r>
              <a:rPr sz="1200" b="1" dirty="0">
                <a:solidFill>
                  <a:srgbClr val="E95513"/>
                </a:solidFill>
                <a:latin typeface="Arial"/>
              </a:rPr>
              <a:t> les </a:t>
            </a:r>
            <a:r>
              <a:rPr sz="1200" b="1" dirty="0" err="1">
                <a:solidFill>
                  <a:srgbClr val="E95513"/>
                </a:solidFill>
                <a:latin typeface="Arial"/>
              </a:rPr>
              <a:t>utilisateurs</a:t>
            </a:r>
            <a:endParaRPr sz="1200" b="1" dirty="0">
              <a:solidFill>
                <a:srgbClr val="E95513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36E9BD-BC7F-4292-3E31-6AFFAFC5EAA2}"/>
              </a:ext>
            </a:extLst>
          </p:cNvPr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C1CC64-725A-4459-3608-263F5A26FD08}"/>
              </a:ext>
            </a:extLst>
          </p:cNvPr>
          <p:cNvSpPr/>
          <p:nvPr/>
        </p:nvSpPr>
        <p:spPr>
          <a:xfrm>
            <a:off x="457200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F9CEA6-FFD0-7EB9-EA9A-C2EB46068722}"/>
              </a:ext>
            </a:extLst>
          </p:cNvPr>
          <p:cNvSpPr/>
          <p:nvPr/>
        </p:nvSpPr>
        <p:spPr>
          <a:xfrm>
            <a:off x="548640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Teams / Viva Engage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1829F-73ED-AC0D-D049-2C8105F4BE6F}"/>
              </a:ext>
            </a:extLst>
          </p:cNvPr>
          <p:cNvSpPr txBox="1"/>
          <p:nvPr/>
        </p:nvSpPr>
        <p:spPr>
          <a:xfrm>
            <a:off x="585216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Communication descendante et ascendante, animation de communauté.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2C8824-5F81-7429-FBAB-6B57183EC8F4}"/>
              </a:ext>
            </a:extLst>
          </p:cNvPr>
          <p:cNvSpPr/>
          <p:nvPr/>
        </p:nvSpPr>
        <p:spPr>
          <a:xfrm>
            <a:off x="2555748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23F444-FB1A-9D50-31FC-86352480C92F}"/>
              </a:ext>
            </a:extLst>
          </p:cNvPr>
          <p:cNvSpPr/>
          <p:nvPr/>
        </p:nvSpPr>
        <p:spPr>
          <a:xfrm>
            <a:off x="2647188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MS Forms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B2AFCE-1988-8FEC-F63F-ED41F43140D8}"/>
              </a:ext>
            </a:extLst>
          </p:cNvPr>
          <p:cNvSpPr txBox="1"/>
          <p:nvPr/>
        </p:nvSpPr>
        <p:spPr>
          <a:xfrm>
            <a:off x="2683764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Baromètre d'adhésion : enquêtes avant/après, remontée des irritants.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CDEFB6-7889-1852-457B-FBFEE0E785B3}"/>
              </a:ext>
            </a:extLst>
          </p:cNvPr>
          <p:cNvSpPr/>
          <p:nvPr/>
        </p:nvSpPr>
        <p:spPr>
          <a:xfrm>
            <a:off x="4654296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D1AFFB-DCFF-1447-7C5A-2CA42609AD02}"/>
              </a:ext>
            </a:extLst>
          </p:cNvPr>
          <p:cNvSpPr/>
          <p:nvPr/>
        </p:nvSpPr>
        <p:spPr>
          <a:xfrm>
            <a:off x="4745736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LMS / e-learning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69A99-2D0F-DB4A-E8EA-89FDAD3FDF37}"/>
              </a:ext>
            </a:extLst>
          </p:cNvPr>
          <p:cNvSpPr txBox="1"/>
          <p:nvPr/>
        </p:nvSpPr>
        <p:spPr>
          <a:xfrm>
            <a:off x="4782312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Parcours de formation et montée en compétences des utilisateurs.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44550C-2C08-9E46-8A31-3F853ED33605}"/>
              </a:ext>
            </a:extLst>
          </p:cNvPr>
          <p:cNvSpPr/>
          <p:nvPr/>
        </p:nvSpPr>
        <p:spPr>
          <a:xfrm>
            <a:off x="6752844" y="1463040"/>
            <a:ext cx="1933956" cy="219456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707423-80FA-3665-05ED-9268F8E2EFA0}"/>
              </a:ext>
            </a:extLst>
          </p:cNvPr>
          <p:cNvSpPr/>
          <p:nvPr/>
        </p:nvSpPr>
        <p:spPr>
          <a:xfrm>
            <a:off x="6844284" y="1572768"/>
            <a:ext cx="1751076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Power BI (adoption)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F572C1-0F7E-AF5D-4341-23210C5D66B9}"/>
              </a:ext>
            </a:extLst>
          </p:cNvPr>
          <p:cNvSpPr txBox="1"/>
          <p:nvPr/>
        </p:nvSpPr>
        <p:spPr>
          <a:xfrm>
            <a:off x="6880860" y="2066544"/>
            <a:ext cx="1677924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3C3C3B"/>
                </a:solidFill>
                <a:latin typeface="Arial"/>
              </a:rPr>
              <a:t>Indicateurs d'adoption et d'usage des nouveaux outils.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B66E1-C0F2-2AD6-7457-BE595A484910}"/>
              </a:ext>
            </a:extLst>
          </p:cNvPr>
          <p:cNvSpPr txBox="1"/>
          <p:nvPr/>
        </p:nvSpPr>
        <p:spPr>
          <a:xfrm>
            <a:off x="457200" y="3977639"/>
            <a:ext cx="8229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E95513"/>
                </a:solidFill>
                <a:latin typeface="Arial"/>
              </a:rPr>
              <a:t>Relais </a:t>
            </a:r>
            <a:r>
              <a:rPr sz="1100" b="1" dirty="0" err="1">
                <a:solidFill>
                  <a:srgbClr val="E95513"/>
                </a:solidFill>
                <a:latin typeface="Arial"/>
              </a:rPr>
              <a:t>humains</a:t>
            </a:r>
            <a:endParaRPr sz="1100" b="1" dirty="0">
              <a:solidFill>
                <a:srgbClr val="E95513"/>
              </a:solidFill>
              <a:latin typeface="Arial"/>
            </a:endParaRP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000" b="0" dirty="0">
                <a:solidFill>
                  <a:srgbClr val="3C3C3B"/>
                </a:solidFill>
                <a:latin typeface="Arial"/>
              </a:rPr>
              <a:t>Au-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delà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des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outils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: un réseau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d'ambassadeurs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(un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référent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par site/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filiale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) et des points de communication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réguliers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. La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mesure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d'adoption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nourrit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la boucle </a:t>
            </a:r>
            <a:r>
              <a:rPr sz="1000" b="0" dirty="0" err="1">
                <a:solidFill>
                  <a:srgbClr val="3C3C3B"/>
                </a:solidFill>
                <a:latin typeface="Arial"/>
              </a:rPr>
              <a:t>d'amélioration</a:t>
            </a:r>
            <a:r>
              <a:rPr sz="1000" b="0" dirty="0">
                <a:solidFill>
                  <a:srgbClr val="3C3C3B"/>
                </a:solidFill>
                <a:latin typeface="Arial"/>
              </a:rPr>
              <a:t> (ADKAR / Kotter).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8ACD8-56ED-3E34-6AA6-6201A2E4B8B8}"/>
              </a:ext>
            </a:extLst>
          </p:cNvPr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Pilotage changement</a:t>
            </a:r>
          </a:p>
        </p:txBody>
      </p:sp>
    </p:spTree>
    <p:extLst>
      <p:ext uri="{BB962C8B-B14F-4D97-AF65-F5344CB8AC3E}">
        <p14:creationId xmlns:p14="http://schemas.microsoft.com/office/powerpoint/2010/main" val="2519373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Notre conviction pour la direction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Pourquoi engager dès maintenant la conduite du changement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70048" cy="24688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2450592" cy="384048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Le 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2340864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SI hétérogène, en silos entre filiales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Support sans méthode ni indicateurs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Infra fragile, sécurité non maîtrisée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76" y="1280160"/>
            <a:ext cx="2670048" cy="24688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46704" y="1389888"/>
            <a:ext cx="2450592" cy="384048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Notre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901952"/>
            <a:ext cx="2340864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Urbaniser le SI &amp; ERP unique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Cloud + gouvernance ITIL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Sécuriser et mettre en conformité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280160"/>
            <a:ext cx="2670048" cy="24688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6480" y="1389888"/>
            <a:ext cx="2450592" cy="384048"/>
          </a:xfrm>
          <a:prstGeom prst="roundRect">
            <a:avLst/>
          </a:prstGeom>
          <a:solidFill>
            <a:srgbClr val="4E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Les bénéfices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1901952"/>
            <a:ext cx="2340864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Productivité &amp; données fiables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Résilience et continuité de service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>
                <a:solidFill>
                  <a:srgbClr val="3C3C3B"/>
                </a:solidFill>
                <a:latin typeface="Arial"/>
              </a:rPr>
              <a:t>•  SI aligné sur la stratégie 2026-2029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8229600" cy="868680"/>
          </a:xfrm>
          <a:prstGeom prst="round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Notre demande : valider la politique de conduite du changement et lancer le schéma directeur SI.</a:t>
            </a:r>
          </a:p>
          <a:p>
            <a:pPr algn="ctr">
              <a:spcBef>
                <a:spcPts val="300"/>
              </a:spcBef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Sans accompagnement du changement, même le meilleur projet SI échoue à l'usage.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828032"/>
            <a:ext cx="1005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D6CDC6"/>
                </a:solidFill>
                <a:latin typeface="Arial"/>
              </a:rPr>
              <a:t>Torpier · Pitch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91440" cy="502920"/>
          </a:xfrm>
          <a:prstGeom prst="rect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80467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C3C3B"/>
                </a:solidFill>
                <a:latin typeface="Arial"/>
              </a:rPr>
              <a:t>Conclusion — la trajectoire du SI Torpier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E95513"/>
                </a:solidFill>
                <a:latin typeface="Arial"/>
              </a:rPr>
              <a:t>Une transformation par étapes, alignée sur la stratégie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8229600" cy="19050"/>
          </a:xfrm>
          <a:prstGeom prst="rect">
            <a:avLst/>
          </a:prstGeom>
          <a:solidFill>
            <a:srgbClr val="D6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70048" cy="20116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91056" y="1536192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084832"/>
            <a:ext cx="23774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95513"/>
                </a:solidFill>
                <a:latin typeface="Arial"/>
              </a:rPr>
              <a:t>Court terme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3C3C3B"/>
                </a:solidFill>
                <a:latin typeface="Arial"/>
              </a:rPr>
              <a:t>ERP lot 1 (finances), gestion des incidents ITIL, audit de 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48840"/>
            <a:ext cx="16459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95513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371600"/>
            <a:ext cx="2670048" cy="20116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70832" y="1536192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84832"/>
            <a:ext cx="23774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95513"/>
                </a:solidFill>
                <a:latin typeface="Arial"/>
              </a:rPr>
              <a:t>Moyen terme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3C3C3B"/>
                </a:solidFill>
                <a:latin typeface="Arial"/>
              </a:rPr>
              <a:t>Move to Cloud, ERP lot 2 (achats/stocks), décisionnel groupe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8736" y="2148840"/>
            <a:ext cx="164592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95513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371600"/>
            <a:ext cx="2670048" cy="2011680"/>
          </a:xfrm>
          <a:prstGeom prst="roundRect">
            <a:avLst>
              <a:gd name="adj" fmla="val 5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50608" y="1536192"/>
            <a:ext cx="402336" cy="402336"/>
          </a:xfrm>
          <a:prstGeom prst="ellipse">
            <a:avLst/>
          </a:prstGeom>
          <a:solidFill>
            <a:srgbClr val="E95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084832"/>
            <a:ext cx="23774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95513"/>
                </a:solidFill>
                <a:latin typeface="Arial"/>
              </a:rPr>
              <a:t>Long terme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3C3C3B"/>
                </a:solidFill>
                <a:latin typeface="Arial"/>
              </a:rPr>
              <a:t>SI urbanisé, agile et sécurisé, pleinement aligné sur la stratégie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8229600" cy="868680"/>
          </a:xfrm>
          <a:prstGeom prst="roundRect">
            <a:avLst/>
          </a:prstGeom>
          <a:solidFill>
            <a:srgbClr val="3C3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Merci de votre attention — place à vos questions</a:t>
            </a:r>
          </a:p>
          <a:p>
            <a:pPr algn="ctr">
              <a:spcBef>
                <a:spcPts val="300"/>
              </a:spcBef>
              <a:spcAft>
                <a:spcPts val="400"/>
              </a:spcAft>
            </a:pPr>
            <a:r>
              <a:rPr sz="1050" b="0">
                <a:solidFill>
                  <a:srgbClr val="D6CDC6"/>
                </a:solidFill>
                <a:latin typeface="Arial"/>
              </a:rPr>
              <a:t>Un SI piloté, urbanisé et sécurisé : le moteur de la stratégie Torpier 2026-2029.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9800" y="4828540"/>
            <a:ext cx="2667000" cy="274320"/>
          </a:xfrm>
          <a:prstGeom prst="rect">
            <a:avLst/>
          </a:prstGeom>
          <a:noFill/>
        </p:spPr>
        <p:txBody>
          <a:bodyPr wrap="square" lIns="45720" tIns="18288" rIns="45720" bIns="18288" anchor="ctr" anchorCtr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C8278"/>
                </a:solidFill>
                <a:latin typeface="Arial"/>
              </a:rPr>
              <a:t>Torpier ·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Infographics by Slidesgo">
  <a:themeElements>
    <a:clrScheme name="Simple Light">
      <a:dk1>
        <a:srgbClr val="000000"/>
      </a:dk1>
      <a:lt1>
        <a:srgbClr val="E95513"/>
      </a:lt1>
      <a:dk2>
        <a:srgbClr val="D6CDC6"/>
      </a:dk2>
      <a:lt2>
        <a:srgbClr val="F8F0E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95513"/>
      </a:accent1>
      <a:accent2>
        <a:srgbClr val="212121"/>
      </a:accent2>
      <a:accent3>
        <a:srgbClr val="878787"/>
      </a:accent3>
      <a:accent4>
        <a:srgbClr val="E95513"/>
      </a:accent4>
      <a:accent5>
        <a:srgbClr val="0097A7"/>
      </a:accent5>
      <a:accent6>
        <a:srgbClr val="EEFF41"/>
      </a:accent6>
      <a:hlink>
        <a:srgbClr val="E9551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DE6B70-1DA6-452F-A7F1-A07B4DC90F1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9acd1b0-8f2a-496a-8cca-1d49fd2a071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4132</Words>
  <Application>Microsoft Office PowerPoint</Application>
  <PresentationFormat>Affichage à l'écran (16:9)</PresentationFormat>
  <Paragraphs>428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Arial</vt:lpstr>
      <vt:lpstr>Montserrat Medium</vt:lpstr>
      <vt:lpstr>Proxima Nova</vt:lpstr>
      <vt:lpstr>Montserrat</vt:lpstr>
      <vt:lpstr>Proxima Nova Semibold</vt:lpstr>
      <vt:lpstr>Fira Sans Extra Condensed</vt:lpstr>
      <vt:lpstr>Montserrat SemiBold</vt:lpstr>
      <vt:lpstr>Business Infographics by Slidesgo</vt:lpstr>
      <vt:lpstr>Slidesgo Final Pages</vt:lpstr>
      <vt:lpstr>Manager les équipes et la transformation du SI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PHANOR AXEL</cp:lastModifiedBy>
  <cp:revision>1</cp:revision>
  <dcterms:modified xsi:type="dcterms:W3CDTF">2026-06-25T17:47:21Z</dcterms:modified>
</cp:coreProperties>
</file>