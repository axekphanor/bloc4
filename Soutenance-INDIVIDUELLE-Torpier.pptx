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109728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009B91"/>
                </a:solidFill>
                <a:latin typeface="Calibri"/>
              </a:rPr>
              <a:t>SOUTENANCE INDIVIDUELLE — RESPONSABLE 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Trajectoire du SI Torpier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C9D4E0"/>
                </a:solidFill>
                <a:latin typeface="Calibri"/>
              </a:rPr>
              <a:t>Aligner le SI sur la strategie &amp; creer de la valeur</a:t>
            </a:r>
          </a:p>
          <a:p>
            <a:r>
              <a:rPr sz="1800" b="0" i="0">
                <a:solidFill>
                  <a:srgbClr val="C9D4E0"/>
                </a:solidFill>
                <a:latin typeface="Calibri"/>
              </a:rPr>
              <a:t>Focus : Optimisation du SI — referentiel ITIL · 20 min + 15 min d'echange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0">
                <a:solidFill>
                  <a:srgbClr val="9AA7B5"/>
                </a:solidFill>
                <a:latin typeface="Calibri"/>
              </a:rPr>
              <a:t>Cas entreprise TORPIER — CESI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Soutenance individuelle (cas Torpier)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 mission : aligner le SI sur la strategie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Posture : nouveau responsable SI de Torpier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Promesse a la direction : accroitre la valeur ajoutee du SI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Garantir que la trajectoire du SI suive celle de l'entreprise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Fiabiliser, urbaniser et securiser un SI devenu multi-sites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Fil conducteur : le POURQUOI avant le COMMENT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Strategie 2026-2029 : diversification, developpement durable, industrie 4.0, optimisation du 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Soutenance individuelle (cas Torpier)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1. Modeliser les flux metiers et ressources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Entreprise, activite &amp; processus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62A4A"/>
                </a:solidFill>
                <a:latin typeface="Calibri"/>
              </a:rPr>
              <a:t>▸ Torpier : conception, fabrication et vente de structures/mobiliers bois (espaces publics/prives)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555B66"/>
                </a:solidFill>
                <a:latin typeface="Calibri"/>
              </a:rPr>
              <a:t>•  Sites : Direction Nanterre · Usine Arras (conception, fabrication) · Usine Finlande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555B66"/>
                </a:solidFill>
                <a:latin typeface="Calibri"/>
              </a:rPr>
              <a:t>•  Transformation : e-commerce, expansion EU, digitalisation, teletravail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62A4A"/>
                </a:solidFill>
                <a:latin typeface="Calibri"/>
              </a:rPr>
              <a:t>▸ Processus metiers &amp; workflows des flux d'information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555B66"/>
                </a:solidFill>
                <a:latin typeface="Calibri"/>
              </a:rPr>
              <a:t>•  Commercial/relation client — Production — Financier/administratif — Gouvernance — Supports IT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555B66"/>
                </a:solidFill>
                <a:latin typeface="Calibri"/>
              </a:rPr>
              <a:t>•  Flux cles : commande (Dynamics) -&gt; appro/fabrication (GesProd/Qualeval) -&gt; facturation (SAGE)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62A4A"/>
                </a:solidFill>
                <a:latin typeface="Calibri"/>
              </a:rPr>
              <a:t>▸ Strategie 2026-2029 (4 axes) : diversification · durable · industrie 4.0 · optimisation du 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Soutenance individuelle (cas Torpier)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1. Modeliser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SI existant — les 4 strates (cartographie)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 pts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3291840" cy="105156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PROCESSUS METIERS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325880"/>
            <a:ext cx="7452360" cy="10515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325880"/>
            <a:ext cx="71323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833"/>
                </a:solidFill>
                <a:latin typeface="Calibri"/>
              </a:rPr>
              <a:t>Commercial · Production · Finance/RH · Gouvernance · Supports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2888"/>
            <a:ext cx="32918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FONCTIONS / APPLICATIONS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2532888"/>
            <a:ext cx="7452360" cy="10515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532888"/>
            <a:ext cx="71323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833"/>
                </a:solidFill>
                <a:latin typeface="Calibri"/>
              </a:rPr>
              <a:t>Dynamics · GesProd · SAGE · Qualeval · PrestaShop · Jira · Power BI · DocuFlow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39896"/>
            <a:ext cx="3291840" cy="105156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DONNEES &amp; INTEGRATION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3739896"/>
            <a:ext cx="7452360" cy="10515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3739896"/>
            <a:ext cx="71323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833"/>
                </a:solidFill>
                <a:latin typeface="Calibri"/>
              </a:rPr>
              <a:t>SQL Server AlwaysOn · echanges CSV (a remplacer) · GED · web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3291840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INFRASTRUCTURE &amp; RESEAU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4946904"/>
            <a:ext cx="7452360" cy="10515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4946904"/>
            <a:ext cx="71323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833"/>
                </a:solidFill>
                <a:latin typeface="Calibri"/>
              </a:rPr>
              <a:t>Hyper-V · AD DS · RDS · VLAN 10-60 · VPN Fortinet (Nanterre-Arras-Finlande)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0" i="1">
                <a:solidFill>
                  <a:srgbClr val="555B66"/>
                </a:solidFill>
                <a:latin typeface="Calibri"/>
              </a:rPr>
              <a:t>A presenter sous forme de schema d'architecture + topologie reseau commentes.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Soutenance individuelle (cas Torpier)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1. Modeliser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5 axes d'amelioration des flux du SI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 pts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24711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66"/>
                <a:gridCol w="2524863"/>
                <a:gridCol w="5049727"/>
                <a:gridCol w="321346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Axe (flux)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Amelioration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Indicateur de valeur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Applicatif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Casser les silos CSV via API/ESB, urbaniser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Interfaces manuelles supprimees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Reseau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Fiabiliser/securiser l'interconnexion, PRA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Taux de dispo inter-sites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Stockage / donnees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Qualite donnees, sauvegarde/PRA, BI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RTO / RPO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Hebergement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Cloud hybride (M365), scalabilite e-commerce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Cout/perf, elasticite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Acces utilisateurs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IAM, RGPD, acces distants (RDS, MFA)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Incidents de securite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5321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1" i="1">
                <a:solidFill>
                  <a:srgbClr val="009B91"/>
                </a:solidFill>
                <a:latin typeface="Calibri"/>
              </a:rPr>
              <a:t>Meme liste que la soutenance collective — focus sur les axes 1 &amp;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Soutenance individuelle (cas Torpier)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Axe retenu : Optimisation du 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Pourquoi cet axe ? Il conditionne tous les autres (resilience, agilite, interconnexion)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Incarne par les axes 1 &amp; 2 : urbanisation applicative + interconnexion/resilience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Referentiel : ITIL (choix issu de la comparaison faite en collectif)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Gestion des changements, des incidents, des problemes, des niveaux de service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Fiabilise le RUN multi-sites aujourd'hui informel (Jira sans process)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Benefices direction : moins d'incidents, SI agile, valeur mesurable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Soutenance individuelle (cas Torpier)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1. Modeliser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5 projets operationnels (axe Optimisation du SI)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24711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107"/>
                <a:gridCol w="4068107"/>
                <a:gridCol w="311090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Projet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Objectif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Referentiel / process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Urbanisation &amp; API GesProd-Dynamics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Supprimer les echanges CSV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ITIL Change + Scrum (dev)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Fiabilisation interconnexion &amp; PRA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Resilience Nanterre-Arras-Finlande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ITIL Service Level / Continuity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Mise en place du centre de services ITIL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Cadrer support &amp; incidents (Jira)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ITIL Incident/Problem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Migration Exchange -&gt; M365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Messagerie unifiee, cloud hybride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ITIL Change + projet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IAM &amp; securisation des acces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RGPD, MFA, acces distants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ITIL Access Mgmt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Soutenance individuelle (cas Torpier)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2. Encadrer les equipes internes et/ou externes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Equipe projet, organigramme &amp;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 + 3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162A4A"/>
                </a:solidFill>
                <a:latin typeface="Calibri"/>
              </a:rPr>
              <a:t>▸ Responsabilites alignees aux competences &amp; aspirations des personas Torpier</a:t>
            </a:r>
          </a:p>
          <a:p>
            <a:pPr lvl="1">
              <a:spcAft>
                <a:spcPts val="8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•  A. Duchamp (infra/securite) -&gt; interconnexion, PRA, IAM</a:t>
            </a:r>
          </a:p>
          <a:p>
            <a:pPr lvl="1">
              <a:spcAft>
                <a:spcPts val="8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•  L. Vigne (applicatif) -&gt; urbanisation/API, migration M365</a:t>
            </a:r>
          </a:p>
          <a:p>
            <a:pPr lvl="1">
              <a:spcAft>
                <a:spcPts val="8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•  T. Valentia (PMO/Scrum) -&gt; pilotage projets, coordination agile</a:t>
            </a:r>
          </a:p>
          <a:p>
            <a:pPr lvl="1">
              <a:spcAft>
                <a:spcPts val="8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•  Admins systeme/reseau + dev full-stack + alternant ; freelances en renfort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62A4A"/>
                </a:solidFill>
                <a:latin typeface="Calibri"/>
              </a:rPr>
              <a:t>▸ Type de management : participatif/collaboratif, directif sur securite (coherent ITIL)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62A4A"/>
                </a:solidFill>
                <a:latin typeface="Calibri"/>
              </a:rPr>
              <a:t>▸ Outils de suivi : Jira (Kanban/tickets), MS Project (planning), Power BI (KPI)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Soutenance individuelle (cas Torpier)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2. Encadrer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Fournisseurs/sous-traitants &amp; plan de communication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Besoins externes justifies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Freelances dev (absorber la charge), integrateurs M365/ITSM, expertise securite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Plan de communication prestataires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Actions : kick-off, comites de suivi, recette ; Ressources : referent DSI + PMO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Canaux : Teams (echanges), Jira (tickets partages), e-mail (officiel)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Indicateurs : respect des delais/SLA, qualite des livrables, satisfaction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Soutenance individuelle (cas Torpier)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2. Encadrer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Outils collaboratifs retenus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97279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571"/>
                <a:gridCol w="4180114"/>
                <a:gridCol w="418011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Outil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Usage relation externes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Usage pilotage interne (KPI)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3"/>
                          </a:solidFill>
                          <a:latin typeface="Calibri"/>
                        </a:rPr>
                        <a:t>Microsoft Teams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3"/>
                          </a:solidFill>
                          <a:latin typeface="Calibri"/>
                        </a:rPr>
                        <a:t>Echanges fluides avec prestataires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3"/>
                          </a:solidFill>
                          <a:latin typeface="Calibri"/>
                        </a:rPr>
                        <a:t>Rituels d'equipe, communication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3"/>
                          </a:solidFill>
                          <a:latin typeface="Calibri"/>
                        </a:rPr>
                        <a:t>Jira Service Mgmt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3"/>
                          </a:solidFill>
                          <a:latin typeface="Calibri"/>
                        </a:rPr>
                        <a:t>Tickets partages, process ITIL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3"/>
                          </a:solidFill>
                          <a:latin typeface="Calibri"/>
                        </a:rPr>
                        <a:t>Suivi incidents/changements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3"/>
                          </a:solidFill>
                          <a:latin typeface="Calibri"/>
                        </a:rPr>
                        <a:t>Power BI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3"/>
                          </a:solidFill>
                          <a:latin typeface="Calibri"/>
                        </a:rPr>
                        <a:t>Reporting partage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3"/>
                          </a:solidFill>
                          <a:latin typeface="Calibri"/>
                        </a:rPr>
                        <a:t>Tableaux de bord de performance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Soutenance individuelle (cas Torpier)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3. Conduire le changement induit par les projets de la DSI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Conduite du changement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 + 1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162A4A"/>
                </a:solidFill>
                <a:latin typeface="Calibri"/>
              </a:rPr>
              <a:t>▸ Leviers d'engagement : sens (Mission-Vision-Valeurs), implication, reconnaissance, quick wins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62A4A"/>
                </a:solidFill>
                <a:latin typeface="Calibri"/>
              </a:rPr>
              <a:t>▸ Methode : ADKAR (ou Kotter) couplee a ITIL</a:t>
            </a:r>
          </a:p>
          <a:p>
            <a:pPr lvl="1">
              <a:spcAft>
                <a:spcPts val="8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•  Awareness -&gt; Desire -&gt; Knowledge -&gt; Ability -&gt; Reinforcement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62A4A"/>
                </a:solidFill>
                <a:latin typeface="Calibri"/>
              </a:rPr>
              <a:t>▸ Arguments d'adhesion : moins d'incidents, agilite accrue, ROI mesurable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62A4A"/>
                </a:solidFill>
                <a:latin typeface="Calibri"/>
              </a:rPr>
              <a:t>▸ Acteurs cles impactes &amp; communication adaptee</a:t>
            </a:r>
          </a:p>
          <a:p>
            <a:pPr lvl="1">
              <a:spcAft>
                <a:spcPts val="8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•  Equipe DSI, utilisateurs metiers (commerciaux, production, Finlande), direction, prestataires</a:t>
            </a:r>
          </a:p>
          <a:p>
            <a:pPr lvl="1">
              <a:spcAft>
                <a:spcPts val="8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•  Communication ciblee par partie prenante (ateliers, formations, comites, newsletters)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Soutenance individuelle (cas Torpier)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109728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009B91"/>
                </a:solidFill>
                <a:latin typeface="Calibri"/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Questions &amp; echanges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C9D4E0"/>
                </a:solidFill>
                <a:latin typeface="Calibri"/>
              </a:rPr>
              <a:t>Place a la discussion (15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0">
                <a:solidFill>
                  <a:srgbClr val="9AA7B5"/>
                </a:solidFill>
                <a:latin typeface="Calibri"/>
              </a:rPr>
              <a:t>Soutenance individuelle — cas Torpier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Soutenance individuelle (cas Torpier)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